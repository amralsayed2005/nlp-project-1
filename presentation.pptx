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1" d="100"/>
          <a:sy n="91" d="100"/>
        </p:scale>
        <p:origin x="341"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566213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 committee. Today we present our university research project on Cyberbullying and Toxicity Categorization in Social Media at Istanbul Gelişim University. Our team investigated five theoretical model families to build an equitable, reproducible NLP pipeline for online safety.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Rather than generic sentiment, we reframed our task into Cyberbullying and Toxicity Categorization. Our text pipeline converts emojis to text tokens, normalizes YouTube slang, and preserves vital negation words. Notice that we did not alter the original dataset labels—Negative, Neutral, and Positive remain intact in the dataset to preserve benchmark integrity, while mapping conceptually to Toxic, Neutral, and Safe.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exploratory data analysis revealed distinct length skews and high slang usage across comments. Crucially, the dataset has an organic class imbalance where toxic samples are in the minority. This proves why simple Accuracy is fundamentally misleading: our benchmark must prioritize Macro-F1 score to treat toxicity detection with equal clinical rigor.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classical baselines, implemented by Omar Elgamal, we utilized high-dimensional TF-IDF unigram to trigram representations. We upgraded standard Naive Bayes to ComplementNB to correct class imbalance biases, and applied cost-sensitive class weighting to LinearSVC. Linear margin optimization reached an 83.8% Macro-F1 score with robust linear boundary separation.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Stepping into deep neural networks, engineered by Abdulrahman Alabar, our Multi-Kernel TextCNN captures multi-scale n-gram patterns through parallel convolutional filters. Our Stacked Bidirectional LSTM captures chronological word dependencies in both directions, resolving long-range context and boosting Macro-F1 to 86.7% with spatial dropout and early stopping.</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state-of-the-art target is the Transformer architecture, exclusively spearheaded by Mohamed Aziz, utilizing distilbert-base-uncased. With full bidirectional self-attention, cosine learning rate warmup, and early stopping on validation F1, DistilBERT captures subtle nuance, sarcasm, and masked harassment, establishing our project benchmark at 0.912 Macro-F1.</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highlights our core engineering rigor: the tangible impact of systematic optimization and fine-tuning. Through GridSearchCV hyperparameter tuning, cost-sensitive class balancing, spatial dropout, and early stopping, we eliminated underfitting and overfitting across all tracks. As shown in the comparison table, our optimizations produced a consistent leap of +5% to +6.6% in F1-score and accuracy across every single model family.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Synthesized by Yahia Alhamwi, here are our final benchmark results. Models are strictly ranked by Macro-F1 score to address class imbalance. DistilBERT achieves the highest Macro-F1 of 0.912, outperforming classical baselines by over 11%. Each architectural upgrade—from linear hyperplanes to multi-kernel convolutions, recurrent memory, and self-attention—yields progressive, measurable gains.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conclusion, our research successfully validated five distinct architecture paradigms for toxicity detection, maintaining raw ground-truth label integrity while evaluating with rigorous Macro-F1 standards. All notebooks, datasets, and presentation materials are fully reproducible in our open repository. Thank you, and we look forward to your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1097280"/>
            <a:ext cx="10332720" cy="1600438"/>
          </a:xfrm>
          <a:prstGeom prst="rect">
            <a:avLst/>
          </a:prstGeom>
          <a:noFill/>
        </p:spPr>
        <p:txBody>
          <a:bodyPr wrap="square">
            <a:spAutoFit/>
          </a:bodyPr>
          <a:lstStyle/>
          <a:p>
            <a:pPr>
              <a:spcAft>
                <a:spcPts val="1200"/>
              </a:spcAft>
              <a:defRPr sz="3600" b="1">
                <a:solidFill>
                  <a:srgbClr val="F1F5F9"/>
                </a:solidFill>
              </a:defRPr>
            </a:pPr>
            <a:r>
              <a:t>Cyberbullying </a:t>
            </a:r>
            <a:r>
              <a:rPr dirty="0"/>
              <a:t>&amp; Toxicity Categorization in Social Media</a:t>
            </a:r>
          </a:p>
          <a:p>
            <a:pPr>
              <a:defRPr sz="1600">
                <a:solidFill>
                  <a:srgbClr val="94A3B8"/>
                </a:solidFill>
              </a:defRPr>
            </a:pPr>
            <a:r>
              <a:rPr dirty="0"/>
              <a:t>Benchmarking Probabilistic, Linear Margin, Deep Neural, and Transformer Architectures on Imbalanced Comment Data</a:t>
            </a:r>
          </a:p>
        </p:txBody>
      </p:sp>
      <p:sp>
        <p:nvSpPr>
          <p:cNvPr id="4" name="Rounded Rectangle 3"/>
          <p:cNvSpPr/>
          <p:nvPr/>
        </p:nvSpPr>
        <p:spPr>
          <a:xfrm>
            <a:off x="914400" y="4114800"/>
            <a:ext cx="10360152" cy="1828800"/>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600"/>
              </a:spcAft>
              <a:defRPr sz="1200" b="1">
                <a:solidFill>
                  <a:srgbClr val="FBBF24"/>
                </a:solidFill>
              </a:defRPr>
            </a:pPr>
            <a:r>
              <a:t>RESEARCH TEAM &amp; ROLES:</a:t>
            </a:r>
          </a:p>
          <a:p>
            <a:pPr>
              <a:defRPr sz="1100">
                <a:solidFill>
                  <a:srgbClr val="F1F5F9"/>
                </a:solidFill>
              </a:defRPr>
            </a:pPr>
            <a:r>
              <a:t>• Amr Alsayed (2309115638) - Team Lead &amp; Data Engineer (EDA, Preprocessing, Repo Architecture)</a:t>
            </a:r>
            <a:br/>
            <a:r>
              <a:t>• OMAR ELGAMAL (2309116447) - Classical Machine Learning Specialist (Naive Bayes &amp; SVM)</a:t>
            </a:r>
            <a:br/>
            <a:r>
              <a:t>• Abdulrahman Alabar (220903363) - Deep Learning Specialist (LSTM &amp; TextCNN)</a:t>
            </a:r>
            <a:br/>
            <a:r>
              <a:t>• Mohamed Aziz (220901206) - Transformer Architecture Specialist (DistilBERT)</a:t>
            </a:r>
            <a:br/>
            <a:r>
              <a:t>• YAHIA ALHAMWI (2309115151) - Project Manager &amp; Presentation Lead (Synthesis &amp; Defense)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698480" cy="261610"/>
          </a:xfrm>
          <a:prstGeom prst="rect">
            <a:avLst/>
          </a:prstGeom>
          <a:noFill/>
        </p:spPr>
        <p:txBody>
          <a:bodyPr wrap="square">
            <a:spAutoFit/>
          </a:bodyPr>
          <a:lstStyle/>
          <a:p>
            <a:pPr>
              <a:defRPr sz="1100" b="1">
                <a:solidFill>
                  <a:srgbClr val="38BDF8"/>
                </a:solidFill>
              </a:defRPr>
            </a:pPr>
            <a:r>
              <a:rPr dirty="0"/>
              <a:t>NLP &amp; ML PROJECT</a:t>
            </a:r>
          </a:p>
        </p:txBody>
      </p:sp>
      <p:sp>
        <p:nvSpPr>
          <p:cNvPr id="4" name="TextBox 3"/>
          <p:cNvSpPr txBox="1"/>
          <p:nvPr/>
        </p:nvSpPr>
        <p:spPr>
          <a:xfrm>
            <a:off x="731520" y="777240"/>
            <a:ext cx="10698480" cy="731520"/>
          </a:xfrm>
          <a:prstGeom prst="rect">
            <a:avLst/>
          </a:prstGeom>
          <a:noFill/>
        </p:spPr>
        <p:txBody>
          <a:bodyPr wrap="square">
            <a:spAutoFit/>
          </a:bodyPr>
          <a:lstStyle/>
          <a:p>
            <a:pPr>
              <a:defRPr sz="2400" b="1">
                <a:solidFill>
                  <a:srgbClr val="F1F5F9"/>
                </a:solidFill>
              </a:defRPr>
            </a:pPr>
            <a:r>
              <a:t>Task Reframing &amp; Advanced Data Preprocessing</a:t>
            </a:r>
          </a:p>
        </p:txBody>
      </p:sp>
      <p:sp>
        <p:nvSpPr>
          <p:cNvPr id="5" name="Rounded Rectangle 4"/>
          <p:cNvSpPr/>
          <p:nvPr/>
        </p:nvSpPr>
        <p:spPr>
          <a:xfrm>
            <a:off x="731520" y="1645920"/>
            <a:ext cx="5120640" cy="4572000"/>
          </a:xfrm>
          <a:prstGeom prst="roundRect">
            <a:avLst/>
          </a:prstGeom>
          <a:solidFill>
            <a:srgbClr val="1E293B"/>
          </a:solidFill>
          <a:ln>
            <a:solidFill>
              <a:srgbClr val="38BDF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1000"/>
              </a:spcAft>
              <a:defRPr sz="1400" b="1">
                <a:solidFill>
                  <a:srgbClr val="38BDF8"/>
                </a:solidFill>
              </a:defRPr>
            </a:pPr>
            <a:r>
              <a:t>PREPROCESSING &amp; FEATURE ENGINEERING</a:t>
            </a:r>
          </a:p>
          <a:p>
            <a:pPr>
              <a:defRPr sz="1150">
                <a:solidFill>
                  <a:srgbClr val="F1F5F9"/>
                </a:solidFill>
              </a:defRPr>
            </a:pPr>
            <a:r>
              <a:t>1. Emoji Demojizing:</a:t>
            </a:r>
            <a:br/>
            <a:r>
              <a:t>   Converts emotional symbols to tokens (e.g. 😡 -&gt; ':enraged_face:') to prevent sentiment loss.</a:t>
            </a:r>
            <a:br/>
            <a:br/>
            <a:r>
              <a:t>2. Social Media Slang Normalization:</a:t>
            </a:r>
            <a:br/>
            <a:r>
              <a:t>   Maps abbreviations (e.g. 'u' -&gt; 'you', 'tbh' -&gt; 'to be honest', 'smh' -&gt; 'shaking my head').</a:t>
            </a:r>
            <a:br/>
            <a:br/>
            <a:r>
              <a:t>3. Negation Preservation:</a:t>
            </a:r>
            <a:br/>
            <a:r>
              <a:t>   Custom stopword filter strictly retains 'not', 'no', 'never', 'don't' to avoid polarity reversal.</a:t>
            </a:r>
            <a:br/>
            <a:br/>
            <a:r>
              <a:t>4. Morphological Lemmatization:</a:t>
            </a:r>
            <a:br/>
            <a:r>
              <a:t>   Unifies inflectional word forms using WordNetLemmatizer.</a:t>
            </a:r>
          </a:p>
        </p:txBody>
      </p:sp>
      <p:sp>
        <p:nvSpPr>
          <p:cNvPr id="6" name="Rounded Rectangle 5"/>
          <p:cNvSpPr/>
          <p:nvPr/>
        </p:nvSpPr>
        <p:spPr>
          <a:xfrm>
            <a:off x="6217920" y="1645920"/>
            <a:ext cx="5212080" cy="4572000"/>
          </a:xfrm>
          <a:prstGeom prst="roundRect">
            <a:avLst/>
          </a:prstGeom>
          <a:solidFill>
            <a:srgbClr val="1E293B"/>
          </a:solidFill>
          <a:ln>
            <a:solidFill>
              <a:srgbClr val="FBBF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1000"/>
              </a:spcAft>
              <a:defRPr sz="1400" b="1">
                <a:solidFill>
                  <a:srgbClr val="FBBF24"/>
                </a:solidFill>
              </a:defRPr>
            </a:pPr>
            <a:r>
              <a:t>ACADEMIC REFRAMING &amp; LABEL INTEGRITY</a:t>
            </a:r>
          </a:p>
          <a:p>
            <a:pPr>
              <a:defRPr sz="1150">
                <a:solidFill>
                  <a:srgbClr val="F1F5F9"/>
                </a:solidFill>
              </a:defRPr>
            </a:pPr>
            <a:r>
              <a:t>• Shift from Valence to Safety:</a:t>
            </a:r>
            <a:br/>
            <a:r>
              <a:t>  Generic sentiment analysis only measures emotional tone. We reframe the problem into Behavioral Toxicity Categorization.</a:t>
            </a:r>
            <a:br/>
            <a:br/>
            <a:r>
              <a:t>• Conceptual Class Mapping:</a:t>
            </a:r>
            <a:br/>
            <a:r>
              <a:t>  - Negative = Toxic (Harassment, insults, hate speech)</a:t>
            </a:r>
            <a:br/>
            <a:r>
              <a:t>  - Neutral  = Neutral (Queries, objective observations)</a:t>
            </a:r>
            <a:br/>
            <a:r>
              <a:t>  - Positive = Safe (Constructive civil interactions)</a:t>
            </a:r>
            <a:br/>
            <a:br/>
            <a:r>
              <a:t>★ CRITICAL NOTE ON DATASET LABELS:</a:t>
            </a:r>
            <a:br/>
            <a:r>
              <a:t>  We did NOT change the original labels ('Negative', 'Neutral', 'Positive') in the underlying dataset or codebase. Preserving the exact ground-truth labels avoids artificial relabeling bias while enabling rigorous toxicity categorization.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698480" cy="261610"/>
          </a:xfrm>
          <a:prstGeom prst="rect">
            <a:avLst/>
          </a:prstGeom>
          <a:noFill/>
        </p:spPr>
        <p:txBody>
          <a:bodyPr wrap="square">
            <a:spAutoFit/>
          </a:bodyPr>
          <a:lstStyle/>
          <a:p>
            <a:pPr>
              <a:defRPr sz="1100" b="1">
                <a:solidFill>
                  <a:srgbClr val="38BDF8"/>
                </a:solidFill>
              </a:defRPr>
            </a:pPr>
            <a:r>
              <a:rPr dirty="0"/>
              <a:t>NLP &amp; ML PROJECT</a:t>
            </a:r>
          </a:p>
        </p:txBody>
      </p:sp>
      <p:sp>
        <p:nvSpPr>
          <p:cNvPr id="4" name="TextBox 3"/>
          <p:cNvSpPr txBox="1"/>
          <p:nvPr/>
        </p:nvSpPr>
        <p:spPr>
          <a:xfrm>
            <a:off x="731520" y="777240"/>
            <a:ext cx="10698480" cy="731520"/>
          </a:xfrm>
          <a:prstGeom prst="rect">
            <a:avLst/>
          </a:prstGeom>
          <a:noFill/>
        </p:spPr>
        <p:txBody>
          <a:bodyPr wrap="square">
            <a:spAutoFit/>
          </a:bodyPr>
          <a:lstStyle/>
          <a:p>
            <a:pPr>
              <a:defRPr sz="2400" b="1">
                <a:solidFill>
                  <a:srgbClr val="F1F5F9"/>
                </a:solidFill>
              </a:defRPr>
            </a:pPr>
            <a:r>
              <a:t>Exploratory Data Analysis &amp; Linguistic Characteristics</a:t>
            </a:r>
          </a:p>
        </p:txBody>
      </p:sp>
      <p:sp>
        <p:nvSpPr>
          <p:cNvPr id="5" name="Rounded Rectangle 4"/>
          <p:cNvSpPr/>
          <p:nvPr/>
        </p:nvSpPr>
        <p:spPr>
          <a:xfrm>
            <a:off x="731520" y="1645920"/>
            <a:ext cx="3291840" cy="2011680"/>
          </a:xfrm>
          <a:prstGeom prst="roundRect">
            <a:avLst/>
          </a:prstGeom>
          <a:solidFill>
            <a:srgbClr val="1E293B"/>
          </a:solidFill>
          <a:ln>
            <a:solidFill>
              <a:srgbClr val="38BDF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38BDF8"/>
                </a:solidFill>
              </a:defRPr>
            </a:pPr>
            <a:r>
              <a:t>CLASS DISTRIBUTION</a:t>
            </a:r>
          </a:p>
          <a:p>
            <a:pPr>
              <a:spcAft>
                <a:spcPts val="400"/>
              </a:spcAft>
              <a:defRPr sz="2000" b="1">
                <a:solidFill>
                  <a:srgbClr val="F1F5F9"/>
                </a:solidFill>
              </a:defRPr>
            </a:pPr>
            <a:r>
              <a:t>Imbalanced Real-World Skew</a:t>
            </a:r>
          </a:p>
          <a:p>
            <a:pPr>
              <a:defRPr sz="1100">
                <a:solidFill>
                  <a:srgbClr val="94A3B8"/>
                </a:solidFill>
              </a:defRPr>
            </a:pPr>
            <a:r>
              <a:t>Neutral &amp; Safe comments substantially outnumber toxic attacks in organic social threads.</a:t>
            </a:r>
          </a:p>
        </p:txBody>
      </p:sp>
      <p:sp>
        <p:nvSpPr>
          <p:cNvPr id="6" name="Rounded Rectangle 5"/>
          <p:cNvSpPr/>
          <p:nvPr/>
        </p:nvSpPr>
        <p:spPr>
          <a:xfrm>
            <a:off x="4389120" y="1645920"/>
            <a:ext cx="3291840" cy="2011680"/>
          </a:xfrm>
          <a:prstGeom prst="roundRect">
            <a:avLst/>
          </a:prstGeom>
          <a:solidFill>
            <a:srgbClr val="1E293B"/>
          </a:solidFill>
          <a:ln>
            <a:solidFill>
              <a:srgbClr val="FBBF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BBF24"/>
                </a:solidFill>
              </a:defRPr>
            </a:pPr>
            <a:r>
              <a:t>COMMENT LENGTH METRICS</a:t>
            </a:r>
          </a:p>
          <a:p>
            <a:pPr>
              <a:spcAft>
                <a:spcPts val="400"/>
              </a:spcAft>
              <a:defRPr sz="2000" b="1">
                <a:solidFill>
                  <a:srgbClr val="F1F5F9"/>
                </a:solidFill>
              </a:defRPr>
            </a:pPr>
            <a:r>
              <a:t>High Length Variance</a:t>
            </a:r>
          </a:p>
          <a:p>
            <a:pPr>
              <a:defRPr sz="1100">
                <a:solidFill>
                  <a:srgbClr val="94A3B8"/>
                </a:solidFill>
              </a:defRPr>
            </a:pPr>
            <a:r>
              <a:t>Toxic comments exhibit sharp bimodal distribution (very brief hostile slurs vs. lengthy harangues).</a:t>
            </a:r>
          </a:p>
        </p:txBody>
      </p:sp>
      <p:sp>
        <p:nvSpPr>
          <p:cNvPr id="7" name="Rounded Rectangle 6"/>
          <p:cNvSpPr/>
          <p:nvPr/>
        </p:nvSpPr>
        <p:spPr>
          <a:xfrm>
            <a:off x="8046720" y="1645920"/>
            <a:ext cx="3291840" cy="2011680"/>
          </a:xfrm>
          <a:prstGeom prst="roundRect">
            <a:avLst/>
          </a:prstGeom>
          <a:solidFill>
            <a:srgbClr val="1E293B"/>
          </a:solidFill>
          <a:ln>
            <a:solidFill>
              <a:srgbClr val="F8717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87171"/>
                </a:solidFill>
              </a:defRPr>
            </a:pPr>
            <a:r>
              <a:t>VOCABULARY CHARACTERISTICS</a:t>
            </a:r>
          </a:p>
          <a:p>
            <a:pPr>
              <a:spcAft>
                <a:spcPts val="400"/>
              </a:spcAft>
              <a:defRPr sz="2000" b="1">
                <a:solidFill>
                  <a:srgbClr val="F1F5F9"/>
                </a:solidFill>
              </a:defRPr>
            </a:pPr>
            <a:r>
              <a:t>High Slang &amp; Emoji Density</a:t>
            </a:r>
          </a:p>
          <a:p>
            <a:pPr>
              <a:defRPr sz="1100">
                <a:solidFill>
                  <a:srgbClr val="94A3B8"/>
                </a:solidFill>
              </a:defRPr>
            </a:pPr>
            <a:r>
              <a:t>Heavy presence of orthographic modifications, internet acronyms, and uppercase intensity.</a:t>
            </a:r>
          </a:p>
        </p:txBody>
      </p:sp>
      <p:sp>
        <p:nvSpPr>
          <p:cNvPr id="8" name="Rounded Rectangle 7"/>
          <p:cNvSpPr/>
          <p:nvPr/>
        </p:nvSpPr>
        <p:spPr>
          <a:xfrm>
            <a:off x="731520" y="4023360"/>
            <a:ext cx="10607040" cy="2194560"/>
          </a:xfrm>
          <a:prstGeom prst="roundRect">
            <a:avLst/>
          </a:prstGeom>
          <a:solidFill>
            <a:srgbClr val="1E293B"/>
          </a:solidFill>
          <a:ln>
            <a:solidFill>
              <a:srgbClr val="38BDF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600"/>
              </a:spcAft>
              <a:defRPr sz="1300" b="1">
                <a:solidFill>
                  <a:srgbClr val="38BDF8"/>
                </a:solidFill>
              </a:defRPr>
            </a:pPr>
            <a:r>
              <a:t>KEY TAKEAWAY FOR MODELING: WHY F1-SCORE IS MANDATORY</a:t>
            </a:r>
          </a:p>
          <a:p>
            <a:pPr>
              <a:defRPr sz="1150">
                <a:solidFill>
                  <a:srgbClr val="F1F5F9"/>
                </a:solidFill>
              </a:defRPr>
            </a:pPr>
            <a:r>
              <a:t>• Severe Class Imbalance invalidates simple Accuracy: A naive majority classifier can score &gt;70% accuracy while failing on 100% of toxic comments.</a:t>
            </a:r>
            <a:br/>
            <a:r>
              <a:t>• We evaluate and rank all models on Macro-Averaged F1-Score: Macro-F1 treats minority Toxic classes with equal weight, penalizing undetected cyberbullying.</a:t>
            </a:r>
            <a:br/>
            <a:r>
              <a:t>• Feature Space: High n-gram sparsity requires sublinear scaling and class-weighted margin optimization.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698480" cy="261610"/>
          </a:xfrm>
          <a:prstGeom prst="rect">
            <a:avLst/>
          </a:prstGeom>
          <a:noFill/>
        </p:spPr>
        <p:txBody>
          <a:bodyPr wrap="square">
            <a:spAutoFit/>
          </a:bodyPr>
          <a:lstStyle/>
          <a:p>
            <a:pPr>
              <a:defRPr sz="1100" b="1">
                <a:solidFill>
                  <a:srgbClr val="38BDF8"/>
                </a:solidFill>
              </a:defRPr>
            </a:pPr>
            <a:r>
              <a:rPr dirty="0"/>
              <a:t>NLP &amp; ML PROJECT</a:t>
            </a:r>
          </a:p>
        </p:txBody>
      </p:sp>
      <p:sp>
        <p:nvSpPr>
          <p:cNvPr id="4" name="TextBox 3"/>
          <p:cNvSpPr txBox="1"/>
          <p:nvPr/>
        </p:nvSpPr>
        <p:spPr>
          <a:xfrm>
            <a:off x="731520" y="777240"/>
            <a:ext cx="10698480" cy="731520"/>
          </a:xfrm>
          <a:prstGeom prst="rect">
            <a:avLst/>
          </a:prstGeom>
          <a:noFill/>
        </p:spPr>
        <p:txBody>
          <a:bodyPr wrap="square">
            <a:spAutoFit/>
          </a:bodyPr>
          <a:lstStyle/>
          <a:p>
            <a:pPr>
              <a:defRPr sz="2400" b="1">
                <a:solidFill>
                  <a:srgbClr val="F1F5F9"/>
                </a:solidFill>
              </a:defRPr>
            </a:pPr>
            <a:r>
              <a:t>Vanilla Baselines: Probabilistic &amp; Linear Margin Models</a:t>
            </a:r>
          </a:p>
        </p:txBody>
      </p:sp>
      <p:sp>
        <p:nvSpPr>
          <p:cNvPr id="5" name="Rounded Rectangle 4"/>
          <p:cNvSpPr/>
          <p:nvPr/>
        </p:nvSpPr>
        <p:spPr>
          <a:xfrm>
            <a:off x="731520" y="1645920"/>
            <a:ext cx="5120640" cy="4572000"/>
          </a:xfrm>
          <a:prstGeom prst="roundRect">
            <a:avLst/>
          </a:prstGeom>
          <a:solidFill>
            <a:srgbClr val="1E293B"/>
          </a:solidFill>
          <a:ln>
            <a:solidFill>
              <a:srgbClr val="38BDF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800"/>
              </a:spcAft>
              <a:defRPr sz="1400" b="1">
                <a:solidFill>
                  <a:srgbClr val="38BDF8"/>
                </a:solidFill>
              </a:defRPr>
            </a:pPr>
            <a:r>
              <a:t>PROBABILISTIC ARCHITECTURE: ComplementNB</a:t>
            </a:r>
          </a:p>
          <a:p>
            <a:pPr>
              <a:defRPr sz="1150">
                <a:solidFill>
                  <a:srgbClr val="F1F5F9"/>
                </a:solidFill>
              </a:defRPr>
            </a:pPr>
            <a:r>
              <a:t>• Architectural Rationale:</a:t>
            </a:r>
            <a:br/>
            <a:r>
              <a:t>  Standard MultinomialNB assumes balanced priors. Omar Elgamal upgraded to ComplementNB, which estimates parameters from the complement of each class to correct imbalanced bias.</a:t>
            </a:r>
            <a:br/>
            <a:br/>
            <a:r>
              <a:t>• Feature Representation:</a:t>
            </a:r>
            <a:br/>
            <a:r>
              <a:t>  TF-IDF Vectorizer with 15,000 max features, unigrams, bigrams &amp; trigrams (1, 3), and sublinear TF scaling.</a:t>
            </a:r>
            <a:br/>
            <a:br/>
            <a:r>
              <a:t>• Hyperparameter Tuning (GridSearchCV):</a:t>
            </a:r>
            <a:br/>
            <a:r>
              <a:t>  5-fold cross-validated grid search over smoothing parameter alpha in [0.01, 5.0], achieving optimal alpha = 2.0.</a:t>
            </a:r>
            <a:br/>
            <a:br/>
            <a:r>
              <a:t>• Result: 0.796 Macro-F1 (80.5% Accuracy).</a:t>
            </a:r>
          </a:p>
        </p:txBody>
      </p:sp>
      <p:sp>
        <p:nvSpPr>
          <p:cNvPr id="6" name="Rounded Rectangle 5"/>
          <p:cNvSpPr/>
          <p:nvPr/>
        </p:nvSpPr>
        <p:spPr>
          <a:xfrm>
            <a:off x="6217920" y="1645920"/>
            <a:ext cx="5212080" cy="4572000"/>
          </a:xfrm>
          <a:prstGeom prst="roundRect">
            <a:avLst/>
          </a:prstGeom>
          <a:solidFill>
            <a:srgbClr val="1E293B"/>
          </a:solidFill>
          <a:ln>
            <a:solidFill>
              <a:srgbClr val="4ADE8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800"/>
              </a:spcAft>
              <a:defRPr sz="1400" b="1">
                <a:solidFill>
                  <a:srgbClr val="4ADE80"/>
                </a:solidFill>
              </a:defRPr>
            </a:pPr>
            <a:r>
              <a:t>LINEAR MARGIN ARCHITECTURE: LinearSVC</a:t>
            </a:r>
          </a:p>
          <a:p>
            <a:pPr>
              <a:defRPr sz="1150">
                <a:solidFill>
                  <a:srgbClr val="F1F5F9"/>
                </a:solidFill>
              </a:defRPr>
            </a:pPr>
            <a:r>
              <a:t>• Architectural Rationale:</a:t>
            </a:r>
            <a:br/>
            <a:r>
              <a:t>  Maximizes geometric margin separation across high-dimensional sparse text vectors; highly resilient to noise in social text.</a:t>
            </a:r>
            <a:br/>
            <a:br/>
            <a:r>
              <a:t>• Feature Representation:</a:t>
            </a:r>
            <a:br/>
            <a:r>
              <a:t>  Expanded 20,000 TF-IDF features spanning unigrams, bigrams, and trigrams with min_df=2 frequency cutoffs.</a:t>
            </a:r>
            <a:br/>
            <a:br/>
            <a:r>
              <a:t>• Hyperparameter Tuning &amp; Class Weights:</a:t>
            </a:r>
            <a:br/>
            <a:r>
              <a:t>  Grid search over penalty C in [0.01, 10.0] and automated cost-sensitive class weights (class_weight='balanced') to penalize toxic misclassification.</a:t>
            </a:r>
            <a:br/>
            <a:br/>
            <a:r>
              <a:t>• Result: 0.838 Macro-F1 (84.5% Accuracy).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698480" cy="261610"/>
          </a:xfrm>
          <a:prstGeom prst="rect">
            <a:avLst/>
          </a:prstGeom>
          <a:noFill/>
        </p:spPr>
        <p:txBody>
          <a:bodyPr wrap="square">
            <a:spAutoFit/>
          </a:bodyPr>
          <a:lstStyle/>
          <a:p>
            <a:pPr>
              <a:defRPr sz="1100" b="1">
                <a:solidFill>
                  <a:srgbClr val="38BDF8"/>
                </a:solidFill>
              </a:defRPr>
            </a:pPr>
            <a:r>
              <a:rPr dirty="0"/>
              <a:t>NLP &amp; ML PROJECT</a:t>
            </a:r>
          </a:p>
        </p:txBody>
      </p:sp>
      <p:sp>
        <p:nvSpPr>
          <p:cNvPr id="4" name="TextBox 3"/>
          <p:cNvSpPr txBox="1"/>
          <p:nvPr/>
        </p:nvSpPr>
        <p:spPr>
          <a:xfrm>
            <a:off x="731520" y="777240"/>
            <a:ext cx="10698480" cy="731520"/>
          </a:xfrm>
          <a:prstGeom prst="rect">
            <a:avLst/>
          </a:prstGeom>
          <a:noFill/>
        </p:spPr>
        <p:txBody>
          <a:bodyPr wrap="square">
            <a:spAutoFit/>
          </a:bodyPr>
          <a:lstStyle/>
          <a:p>
            <a:pPr>
              <a:defRPr sz="2400" b="1">
                <a:solidFill>
                  <a:srgbClr val="F1F5F9"/>
                </a:solidFill>
              </a:defRPr>
            </a:pPr>
            <a:r>
              <a:t>Deep Learning: Multi-Kernel TextCNN &amp; Stacked BiLSTM</a:t>
            </a:r>
          </a:p>
        </p:txBody>
      </p:sp>
      <p:sp>
        <p:nvSpPr>
          <p:cNvPr id="5" name="Rounded Rectangle 4"/>
          <p:cNvSpPr/>
          <p:nvPr/>
        </p:nvSpPr>
        <p:spPr>
          <a:xfrm>
            <a:off x="731520" y="1645920"/>
            <a:ext cx="5120640" cy="4572000"/>
          </a:xfrm>
          <a:prstGeom prst="roundRect">
            <a:avLst/>
          </a:prstGeom>
          <a:solidFill>
            <a:srgbClr val="1E293B"/>
          </a:solidFill>
          <a:ln>
            <a:solidFill>
              <a:srgbClr val="38BDF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800"/>
              </a:spcAft>
              <a:defRPr sz="1400" b="1">
                <a:solidFill>
                  <a:srgbClr val="38BDF8"/>
                </a:solidFill>
              </a:defRPr>
            </a:pPr>
            <a:r>
              <a:t>1D CONVOLUTIONAL: Multi-Kernel TextCNN</a:t>
            </a:r>
          </a:p>
          <a:p>
            <a:pPr>
              <a:defRPr sz="1150">
                <a:solidFill>
                  <a:srgbClr val="F1F5F9"/>
                </a:solidFill>
              </a:defRPr>
            </a:pPr>
            <a:r>
              <a:t>• Parallel Multi-Kernel Architecture (Functional API):</a:t>
            </a:r>
            <a:br/>
            <a:r>
              <a:t>  Designed by Abdulrahman Alabar: 3 parallel Conv1D branches (kernel sizes 3, 4, 5) extract short, medium, and long toxic phrase patterns simultaneously.</a:t>
            </a:r>
            <a:br/>
            <a:br/>
            <a:r>
              <a:t>• Regularization &amp; Normalization:</a:t>
            </a:r>
            <a:br/>
            <a:r>
              <a:t>  SpatialDropout1D(0.25) drops entire feature channels; Batch Normalization stabilizes training post-convolution.</a:t>
            </a:r>
            <a:br/>
            <a:br/>
            <a:r>
              <a:t>• Adaptive Callbacks:</a:t>
            </a:r>
            <a:br/>
            <a:r>
              <a:t>  ReduceLROnPlateau decay + EarlyStopping (restoring best weights) + class_weight compensation.</a:t>
            </a:r>
            <a:br/>
            <a:br/>
            <a:r>
              <a:t>• Result: 0.854 Macro-F1 (86.1% Accuracy).</a:t>
            </a:r>
          </a:p>
        </p:txBody>
      </p:sp>
      <p:sp>
        <p:nvSpPr>
          <p:cNvPr id="6" name="Rounded Rectangle 5"/>
          <p:cNvSpPr/>
          <p:nvPr/>
        </p:nvSpPr>
        <p:spPr>
          <a:xfrm>
            <a:off x="6217920" y="1645920"/>
            <a:ext cx="5212080" cy="4572000"/>
          </a:xfrm>
          <a:prstGeom prst="roundRect">
            <a:avLst/>
          </a:prstGeom>
          <a:solidFill>
            <a:srgbClr val="1E293B"/>
          </a:solidFill>
          <a:ln>
            <a:solidFill>
              <a:srgbClr val="FBBF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800"/>
              </a:spcAft>
              <a:defRPr sz="1400" b="1">
                <a:solidFill>
                  <a:srgbClr val="FBBF24"/>
                </a:solidFill>
              </a:defRPr>
            </a:pPr>
            <a:r>
              <a:t>RECURRENT ARCHITECTURE: Stacked BiLSTM</a:t>
            </a:r>
          </a:p>
          <a:p>
            <a:pPr>
              <a:defRPr sz="1150">
                <a:solidFill>
                  <a:srgbClr val="F1F5F9"/>
                </a:solidFill>
              </a:defRPr>
            </a:pPr>
            <a:r>
              <a:t>• Bidirectional Temporal Sequence Modeling:</a:t>
            </a:r>
            <a:br/>
            <a:r>
              <a:t>  Engineered by Abdulrahman Alabar: Stacked BiLSTM (128 -&gt; 64 units) processes sentences forward and backward, capturing context before and after toxic keywords.</a:t>
            </a:r>
            <a:br/>
            <a:br/>
            <a:r>
              <a:t>• Mitigating Overfitting:</a:t>
            </a:r>
            <a:br/>
            <a:r>
              <a:t>  SpatialDropout1D(0.3), recurrent dropout, Batch Normalization, and dense Dropout(0.4).</a:t>
            </a:r>
            <a:br/>
            <a:br/>
            <a:r>
              <a:t>• Training Stability:</a:t>
            </a:r>
            <a:br/>
            <a:r>
              <a:t>  Adam optimizer with learning rate decay and EarlyStopping monitoring validation loss.</a:t>
            </a:r>
            <a:br/>
            <a:br/>
            <a:r>
              <a:t>• Result: 0.867 Macro-F1 (87.3% Accuracy).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698480" cy="261610"/>
          </a:xfrm>
          <a:prstGeom prst="rect">
            <a:avLst/>
          </a:prstGeom>
          <a:noFill/>
        </p:spPr>
        <p:txBody>
          <a:bodyPr wrap="square">
            <a:spAutoFit/>
          </a:bodyPr>
          <a:lstStyle/>
          <a:p>
            <a:pPr>
              <a:defRPr sz="1100" b="1">
                <a:solidFill>
                  <a:srgbClr val="38BDF8"/>
                </a:solidFill>
              </a:defRPr>
            </a:pPr>
            <a:r>
              <a:rPr dirty="0"/>
              <a:t>NLP &amp; ML PROJECT</a:t>
            </a:r>
          </a:p>
        </p:txBody>
      </p:sp>
      <p:sp>
        <p:nvSpPr>
          <p:cNvPr id="4" name="TextBox 3"/>
          <p:cNvSpPr txBox="1"/>
          <p:nvPr/>
        </p:nvSpPr>
        <p:spPr>
          <a:xfrm>
            <a:off x="731520" y="777240"/>
            <a:ext cx="10698480" cy="731520"/>
          </a:xfrm>
          <a:prstGeom prst="rect">
            <a:avLst/>
          </a:prstGeom>
          <a:noFill/>
        </p:spPr>
        <p:txBody>
          <a:bodyPr wrap="square">
            <a:spAutoFit/>
          </a:bodyPr>
          <a:lstStyle/>
          <a:p>
            <a:pPr>
              <a:defRPr sz="2400" b="1">
                <a:solidFill>
                  <a:srgbClr val="F1F5F9"/>
                </a:solidFill>
              </a:defRPr>
            </a:pPr>
            <a:r>
              <a:t>SOTA Target: Transformer Architecture (distilbert-base-uncased)</a:t>
            </a:r>
          </a:p>
        </p:txBody>
      </p:sp>
      <p:sp>
        <p:nvSpPr>
          <p:cNvPr id="5" name="Rounded Rectangle 4"/>
          <p:cNvSpPr/>
          <p:nvPr/>
        </p:nvSpPr>
        <p:spPr>
          <a:xfrm>
            <a:off x="731520" y="1645920"/>
            <a:ext cx="10698480" cy="4572000"/>
          </a:xfrm>
          <a:prstGeom prst="roundRect">
            <a:avLst/>
          </a:prstGeom>
          <a:solidFill>
            <a:srgbClr val="1E293B"/>
          </a:solidFill>
          <a:ln>
            <a:solidFill>
              <a:srgbClr val="FBBF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1000"/>
              </a:spcAft>
              <a:defRPr sz="1400" b="1">
                <a:solidFill>
                  <a:srgbClr val="FBBF24"/>
                </a:solidFill>
              </a:defRPr>
            </a:pPr>
            <a:r>
              <a:t>PRE-TRAINED TRANSFORMER FINE-TUNING VIA SELF-ATTENTION</a:t>
            </a:r>
          </a:p>
          <a:p>
            <a:pPr>
              <a:defRPr sz="1200">
                <a:solidFill>
                  <a:srgbClr val="F1F5F9"/>
                </a:solidFill>
              </a:defRPr>
            </a:pPr>
            <a:r>
              <a:t>1. Exclusively Handled by Mohamed Aziz:</a:t>
            </a:r>
            <a:br/>
            <a:r>
              <a:t>   Implemented the end-to-end PyTorch / Hugging Face pipeline for the state-of-the-art distilbert-base-uncased model.</a:t>
            </a:r>
            <a:br/>
            <a:br/>
            <a:r>
              <a:t>2. Theoretical Advantage: Bidirectional Self-Attention:</a:t>
            </a:r>
            <a:br/>
            <a:r>
              <a:t>   Unlike static embeddings or sequential recurrence, DistilBERT's multi-head attention computes pairwise token relevance globally. It effectively unravels sarcasm, double entendres, and implicit cyberbullying masked by benign wording.</a:t>
            </a:r>
            <a:br/>
            <a:br/>
            <a:r>
              <a:t>3. Optimized Hyperparameters &amp; Training Arguments:</a:t>
            </a:r>
            <a:br/>
            <a:r>
              <a:t>   • Base Model: distilbert-base-uncased (6 transformer layers, 768 hidden dimensions, 66M parameters).</a:t>
            </a:r>
            <a:br/>
            <a:r>
              <a:t>   • Learning Rate Schedule: 3e-5 with Cosine Decay and 10% Warmup steps.</a:t>
            </a:r>
            <a:br/>
            <a:r>
              <a:t>   • Regularization: Weight decay = 0.01 to prevent weight degradation.</a:t>
            </a:r>
            <a:br/>
            <a:r>
              <a:t>   • Step Checkpoints: Evaluated every 100 steps with EarlyStoppingCallback(patience=3) halting training as soon as validation F1 saturates.</a:t>
            </a:r>
            <a:br/>
            <a:br/>
            <a:r>
              <a:t>4. Result: 0.912 Macro-F1 | 0.918 Weighted-F1 | 91.6% Accuracy (Project SOTA).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698480" cy="261610"/>
          </a:xfrm>
          <a:prstGeom prst="rect">
            <a:avLst/>
          </a:prstGeom>
          <a:noFill/>
        </p:spPr>
        <p:txBody>
          <a:bodyPr wrap="square">
            <a:spAutoFit/>
          </a:bodyPr>
          <a:lstStyle/>
          <a:p>
            <a:pPr>
              <a:defRPr sz="1100" b="1">
                <a:solidFill>
                  <a:srgbClr val="38BDF8"/>
                </a:solidFill>
              </a:defRPr>
            </a:pPr>
            <a:r>
              <a:rPr dirty="0"/>
              <a:t>NLP &amp; ML PROJECT</a:t>
            </a:r>
          </a:p>
        </p:txBody>
      </p:sp>
      <p:sp>
        <p:nvSpPr>
          <p:cNvPr id="4" name="TextBox 3"/>
          <p:cNvSpPr txBox="1"/>
          <p:nvPr/>
        </p:nvSpPr>
        <p:spPr>
          <a:xfrm>
            <a:off x="731520" y="777240"/>
            <a:ext cx="10698480" cy="731520"/>
          </a:xfrm>
          <a:prstGeom prst="rect">
            <a:avLst/>
          </a:prstGeom>
          <a:noFill/>
        </p:spPr>
        <p:txBody>
          <a:bodyPr wrap="square">
            <a:spAutoFit/>
          </a:bodyPr>
          <a:lstStyle/>
          <a:p>
            <a:pPr>
              <a:defRPr sz="2400" b="1">
                <a:solidFill>
                  <a:srgbClr val="F1F5F9"/>
                </a:solidFill>
              </a:defRPr>
            </a:pPr>
            <a:r>
              <a:t>Engineering Rigor: Optimization &amp; Fine-Tuning Impact</a:t>
            </a:r>
          </a:p>
        </p:txBody>
      </p:sp>
      <p:sp>
        <p:nvSpPr>
          <p:cNvPr id="5" name="Rounded Rectangle 4"/>
          <p:cNvSpPr/>
          <p:nvPr/>
        </p:nvSpPr>
        <p:spPr>
          <a:xfrm>
            <a:off x="731520" y="1645920"/>
            <a:ext cx="5120640" cy="4572000"/>
          </a:xfrm>
          <a:prstGeom prst="roundRect">
            <a:avLst/>
          </a:prstGeom>
          <a:solidFill>
            <a:srgbClr val="1E293B"/>
          </a:solidFill>
          <a:ln>
            <a:solidFill>
              <a:srgbClr val="38BDF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800"/>
              </a:spcAft>
              <a:defRPr sz="1300" b="1">
                <a:solidFill>
                  <a:srgbClr val="38BDF8"/>
                </a:solidFill>
              </a:defRPr>
            </a:pPr>
            <a:r>
              <a:t>SYSTEMATIC OPTIMIZATION PILLARS</a:t>
            </a:r>
          </a:p>
          <a:p>
            <a:pPr>
              <a:defRPr sz="1100">
                <a:solidFill>
                  <a:srgbClr val="F1F5F9"/>
                </a:solidFill>
              </a:defRPr>
            </a:pPr>
            <a:r>
              <a:t>• Systematic Hyperparameter Tuning:</a:t>
            </a:r>
            <a:br/>
            <a:r>
              <a:t>  Conducted 5-fold cross-validated GridSearchCV across alpha in [0.01, 5.0] for ComplementNB and penalty C in [0.01, 10.0] for LinearSVC, maximizing decision margin boundaries.</a:t>
            </a:r>
            <a:br/>
            <a:br/>
            <a:r>
              <a:t>• Class Imbalance Mitigation:</a:t>
            </a:r>
            <a:br/>
            <a:r>
              <a:t>  Integrated cost-sensitive learning (class_weight='balanced') across both classical and deep neural networks to heavily penalize minority toxic misclassifications.</a:t>
            </a:r>
            <a:br/>
            <a:br/>
            <a:r>
              <a:t>• Deep Learning Regularization:</a:t>
            </a:r>
            <a:br/>
            <a:r>
              <a:t>  Added SpatialDropout1D (0.25-0.30) across embeddings, Batch Normalization, ReduceLROnPlateau decay, and EarlyStopping with restore_best_weights=True to completely eliminate overfitting.</a:t>
            </a:r>
            <a:br/>
            <a:br/>
            <a:r>
              <a:t>• Advanced Transformer Fine-Tuning:</a:t>
            </a:r>
            <a:br/>
            <a:r>
              <a:t>  Engineered Cosine LR schedule with 10% warmup, weight_decay=0.01, step-level evaluation checkpoints, and fp16 mixed-precision acceleration.</a:t>
            </a:r>
          </a:p>
        </p:txBody>
      </p:sp>
      <p:graphicFrame>
        <p:nvGraphicFramePr>
          <p:cNvPr id="6" name="Table 5"/>
          <p:cNvGraphicFramePr>
            <a:graphicFrameLocks noGrp="1"/>
          </p:cNvGraphicFramePr>
          <p:nvPr/>
        </p:nvGraphicFramePr>
        <p:xfrm>
          <a:off x="6126480" y="1645920"/>
          <a:ext cx="5303520" cy="329184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548640">
                <a:tc>
                  <a:txBody>
                    <a:bodyPr/>
                    <a:lstStyle/>
                    <a:p>
                      <a:pPr>
                        <a:defRPr sz="1000" b="1">
                          <a:solidFill>
                            <a:srgbClr val="F1F5F9"/>
                          </a:solidFill>
                        </a:defRPr>
                      </a:pPr>
                      <a:r>
                        <a:t>Model Architecture</a:t>
                      </a:r>
                    </a:p>
                  </a:txBody>
                  <a:tcPr>
                    <a:solidFill>
                      <a:srgbClr val="0E7490"/>
                    </a:solidFill>
                  </a:tcPr>
                </a:tc>
                <a:tc>
                  <a:txBody>
                    <a:bodyPr/>
                    <a:lstStyle/>
                    <a:p>
                      <a:pPr>
                        <a:defRPr sz="1000" b="1">
                          <a:solidFill>
                            <a:srgbClr val="F1F5F9"/>
                          </a:solidFill>
                        </a:defRPr>
                      </a:pPr>
                      <a:r>
                        <a:t>Baseline (Before)</a:t>
                      </a:r>
                    </a:p>
                  </a:txBody>
                  <a:tcPr>
                    <a:solidFill>
                      <a:srgbClr val="0E7490"/>
                    </a:solidFill>
                  </a:tcPr>
                </a:tc>
                <a:tc>
                  <a:txBody>
                    <a:bodyPr/>
                    <a:lstStyle/>
                    <a:p>
                      <a:pPr>
                        <a:defRPr sz="1000" b="1">
                          <a:solidFill>
                            <a:srgbClr val="F1F5F9"/>
                          </a:solidFill>
                        </a:defRPr>
                      </a:pPr>
                      <a:r>
                        <a:t>Optimized (After)</a:t>
                      </a:r>
                    </a:p>
                  </a:txBody>
                  <a:tcPr>
                    <a:solidFill>
                      <a:srgbClr val="0E7490"/>
                    </a:solidFill>
                  </a:tcPr>
                </a:tc>
                <a:tc>
                  <a:txBody>
                    <a:bodyPr/>
                    <a:lstStyle/>
                    <a:p>
                      <a:pPr>
                        <a:defRPr sz="1000" b="1">
                          <a:solidFill>
                            <a:srgbClr val="F1F5F9"/>
                          </a:solidFill>
                        </a:defRPr>
                      </a:pPr>
                      <a:r>
                        <a:t>F1-Score Leap</a:t>
                      </a:r>
                    </a:p>
                  </a:txBody>
                  <a:tcPr>
                    <a:solidFill>
                      <a:srgbClr val="0E7490"/>
                    </a:solidFill>
                  </a:tcPr>
                </a:tc>
                <a:extLst>
                  <a:ext uri="{0D108BD9-81ED-4DB2-BD59-A6C34878D82A}">
                    <a16:rowId xmlns:a16="http://schemas.microsoft.com/office/drawing/2014/main" val="10000"/>
                  </a:ext>
                </a:extLst>
              </a:tr>
              <a:tr h="548640">
                <a:tc>
                  <a:txBody>
                    <a:bodyPr/>
                    <a:lstStyle/>
                    <a:p>
                      <a:pPr>
                        <a:defRPr sz="1000" b="1">
                          <a:solidFill>
                            <a:srgbClr val="F1F5F9"/>
                          </a:solidFill>
                        </a:defRPr>
                      </a:pPr>
                      <a:r>
                        <a:t>Naive Bayes</a:t>
                      </a:r>
                    </a:p>
                  </a:txBody>
                  <a:tcPr>
                    <a:solidFill>
                      <a:srgbClr val="172554"/>
                    </a:solidFill>
                  </a:tcPr>
                </a:tc>
                <a:tc>
                  <a:txBody>
                    <a:bodyPr/>
                    <a:lstStyle/>
                    <a:p>
                      <a:pPr>
                        <a:defRPr sz="1000">
                          <a:solidFill>
                            <a:srgbClr val="94A3B8"/>
                          </a:solidFill>
                        </a:defRPr>
                      </a:pPr>
                      <a:r>
                        <a:t>~ 74.0%</a:t>
                      </a:r>
                    </a:p>
                  </a:txBody>
                  <a:tcPr>
                    <a:solidFill>
                      <a:srgbClr val="172554"/>
                    </a:solidFill>
                  </a:tcPr>
                </a:tc>
                <a:tc>
                  <a:txBody>
                    <a:bodyPr/>
                    <a:lstStyle/>
                    <a:p>
                      <a:pPr>
                        <a:defRPr sz="1000" b="1">
                          <a:solidFill>
                            <a:srgbClr val="F1F5F9"/>
                          </a:solidFill>
                        </a:defRPr>
                      </a:pPr>
                      <a:r>
                        <a:t>80.5%</a:t>
                      </a:r>
                    </a:p>
                  </a:txBody>
                  <a:tcPr>
                    <a:solidFill>
                      <a:srgbClr val="172554"/>
                    </a:solidFill>
                  </a:tcPr>
                </a:tc>
                <a:tc>
                  <a:txBody>
                    <a:bodyPr/>
                    <a:lstStyle/>
                    <a:p>
                      <a:pPr>
                        <a:defRPr sz="1000" b="1">
                          <a:solidFill>
                            <a:srgbClr val="4ADE80"/>
                          </a:solidFill>
                        </a:defRPr>
                      </a:pPr>
                      <a:r>
                        <a:t>+ 6.0%</a:t>
                      </a:r>
                    </a:p>
                  </a:txBody>
                  <a:tcPr>
                    <a:solidFill>
                      <a:srgbClr val="172554"/>
                    </a:solidFill>
                  </a:tcPr>
                </a:tc>
                <a:extLst>
                  <a:ext uri="{0D108BD9-81ED-4DB2-BD59-A6C34878D82A}">
                    <a16:rowId xmlns:a16="http://schemas.microsoft.com/office/drawing/2014/main" val="10001"/>
                  </a:ext>
                </a:extLst>
              </a:tr>
              <a:tr h="548640">
                <a:tc>
                  <a:txBody>
                    <a:bodyPr/>
                    <a:lstStyle/>
                    <a:p>
                      <a:pPr>
                        <a:defRPr sz="1000" b="1">
                          <a:solidFill>
                            <a:srgbClr val="F1F5F9"/>
                          </a:solidFill>
                        </a:defRPr>
                      </a:pPr>
                      <a:r>
                        <a:t>LinearSVC</a:t>
                      </a:r>
                    </a:p>
                  </a:txBody>
                  <a:tcPr>
                    <a:solidFill>
                      <a:srgbClr val="1E293B"/>
                    </a:solidFill>
                  </a:tcPr>
                </a:tc>
                <a:tc>
                  <a:txBody>
                    <a:bodyPr/>
                    <a:lstStyle/>
                    <a:p>
                      <a:pPr>
                        <a:defRPr sz="1000">
                          <a:solidFill>
                            <a:srgbClr val="94A3B8"/>
                          </a:solidFill>
                        </a:defRPr>
                      </a:pPr>
                      <a:r>
                        <a:t>~ 79.5%</a:t>
                      </a:r>
                    </a:p>
                  </a:txBody>
                  <a:tcPr>
                    <a:solidFill>
                      <a:srgbClr val="1E293B"/>
                    </a:solidFill>
                  </a:tcPr>
                </a:tc>
                <a:tc>
                  <a:txBody>
                    <a:bodyPr/>
                    <a:lstStyle/>
                    <a:p>
                      <a:pPr>
                        <a:defRPr sz="1000" b="1">
                          <a:solidFill>
                            <a:srgbClr val="F1F5F9"/>
                          </a:solidFill>
                        </a:defRPr>
                      </a:pPr>
                      <a:r>
                        <a:t>84.5%</a:t>
                      </a:r>
                    </a:p>
                  </a:txBody>
                  <a:tcPr>
                    <a:solidFill>
                      <a:srgbClr val="1E293B"/>
                    </a:solidFill>
                  </a:tcPr>
                </a:tc>
                <a:tc>
                  <a:txBody>
                    <a:bodyPr/>
                    <a:lstStyle/>
                    <a:p>
                      <a:pPr>
                        <a:defRPr sz="1000" b="1">
                          <a:solidFill>
                            <a:srgbClr val="4ADE80"/>
                          </a:solidFill>
                        </a:defRPr>
                      </a:pPr>
                      <a:r>
                        <a:t>+ 5.0%</a:t>
                      </a:r>
                    </a:p>
                  </a:txBody>
                  <a:tcPr>
                    <a:solidFill>
                      <a:srgbClr val="1E293B"/>
                    </a:solidFill>
                  </a:tcPr>
                </a:tc>
                <a:extLst>
                  <a:ext uri="{0D108BD9-81ED-4DB2-BD59-A6C34878D82A}">
                    <a16:rowId xmlns:a16="http://schemas.microsoft.com/office/drawing/2014/main" val="10002"/>
                  </a:ext>
                </a:extLst>
              </a:tr>
              <a:tr h="548640">
                <a:tc>
                  <a:txBody>
                    <a:bodyPr/>
                    <a:lstStyle/>
                    <a:p>
                      <a:pPr>
                        <a:defRPr sz="1000" b="1">
                          <a:solidFill>
                            <a:srgbClr val="F1F5F9"/>
                          </a:solidFill>
                        </a:defRPr>
                      </a:pPr>
                      <a:r>
                        <a:t>TextCNN</a:t>
                      </a:r>
                    </a:p>
                  </a:txBody>
                  <a:tcPr>
                    <a:solidFill>
                      <a:srgbClr val="172554"/>
                    </a:solidFill>
                  </a:tcPr>
                </a:tc>
                <a:tc>
                  <a:txBody>
                    <a:bodyPr/>
                    <a:lstStyle/>
                    <a:p>
                      <a:pPr>
                        <a:defRPr sz="1000">
                          <a:solidFill>
                            <a:srgbClr val="94A3B8"/>
                          </a:solidFill>
                        </a:defRPr>
                      </a:pPr>
                      <a:r>
                        <a:t>~ 81.0%</a:t>
                      </a:r>
                    </a:p>
                  </a:txBody>
                  <a:tcPr>
                    <a:solidFill>
                      <a:srgbClr val="172554"/>
                    </a:solidFill>
                  </a:tcPr>
                </a:tc>
                <a:tc>
                  <a:txBody>
                    <a:bodyPr/>
                    <a:lstStyle/>
                    <a:p>
                      <a:pPr>
                        <a:defRPr sz="1000" b="1">
                          <a:solidFill>
                            <a:srgbClr val="F1F5F9"/>
                          </a:solidFill>
                        </a:defRPr>
                      </a:pPr>
                      <a:r>
                        <a:t>86.1%</a:t>
                      </a:r>
                    </a:p>
                  </a:txBody>
                  <a:tcPr>
                    <a:solidFill>
                      <a:srgbClr val="172554"/>
                    </a:solidFill>
                  </a:tcPr>
                </a:tc>
                <a:tc>
                  <a:txBody>
                    <a:bodyPr/>
                    <a:lstStyle/>
                    <a:p>
                      <a:pPr>
                        <a:defRPr sz="1000" b="1">
                          <a:solidFill>
                            <a:srgbClr val="4ADE80"/>
                          </a:solidFill>
                        </a:defRPr>
                      </a:pPr>
                      <a:r>
                        <a:t>+ 5.0%</a:t>
                      </a:r>
                    </a:p>
                  </a:txBody>
                  <a:tcPr>
                    <a:solidFill>
                      <a:srgbClr val="172554"/>
                    </a:solidFill>
                  </a:tcPr>
                </a:tc>
                <a:extLst>
                  <a:ext uri="{0D108BD9-81ED-4DB2-BD59-A6C34878D82A}">
                    <a16:rowId xmlns:a16="http://schemas.microsoft.com/office/drawing/2014/main" val="10003"/>
                  </a:ext>
                </a:extLst>
              </a:tr>
              <a:tr h="548640">
                <a:tc>
                  <a:txBody>
                    <a:bodyPr/>
                    <a:lstStyle/>
                    <a:p>
                      <a:pPr>
                        <a:defRPr sz="1000" b="1">
                          <a:solidFill>
                            <a:srgbClr val="F1F5F9"/>
                          </a:solidFill>
                        </a:defRPr>
                      </a:pPr>
                      <a:r>
                        <a:t>Stacked BiLSTM</a:t>
                      </a:r>
                    </a:p>
                  </a:txBody>
                  <a:tcPr>
                    <a:solidFill>
                      <a:srgbClr val="1E293B"/>
                    </a:solidFill>
                  </a:tcPr>
                </a:tc>
                <a:tc>
                  <a:txBody>
                    <a:bodyPr/>
                    <a:lstStyle/>
                    <a:p>
                      <a:pPr>
                        <a:defRPr sz="1000">
                          <a:solidFill>
                            <a:srgbClr val="94A3B8"/>
                          </a:solidFill>
                        </a:defRPr>
                      </a:pPr>
                      <a:r>
                        <a:t>~ 82.5%</a:t>
                      </a:r>
                    </a:p>
                  </a:txBody>
                  <a:tcPr>
                    <a:solidFill>
                      <a:srgbClr val="1E293B"/>
                    </a:solidFill>
                  </a:tcPr>
                </a:tc>
                <a:tc>
                  <a:txBody>
                    <a:bodyPr/>
                    <a:lstStyle/>
                    <a:p>
                      <a:pPr>
                        <a:defRPr sz="1000" b="1">
                          <a:solidFill>
                            <a:srgbClr val="F1F5F9"/>
                          </a:solidFill>
                        </a:defRPr>
                      </a:pPr>
                      <a:r>
                        <a:t>87.3%</a:t>
                      </a:r>
                    </a:p>
                  </a:txBody>
                  <a:tcPr>
                    <a:solidFill>
                      <a:srgbClr val="1E293B"/>
                    </a:solidFill>
                  </a:tcPr>
                </a:tc>
                <a:tc>
                  <a:txBody>
                    <a:bodyPr/>
                    <a:lstStyle/>
                    <a:p>
                      <a:pPr>
                        <a:defRPr sz="1000" b="1">
                          <a:solidFill>
                            <a:srgbClr val="4ADE80"/>
                          </a:solidFill>
                        </a:defRPr>
                      </a:pPr>
                      <a:r>
                        <a:t>+ 5.0%</a:t>
                      </a:r>
                    </a:p>
                  </a:txBody>
                  <a:tcPr>
                    <a:solidFill>
                      <a:srgbClr val="1E293B"/>
                    </a:solidFill>
                  </a:tcPr>
                </a:tc>
                <a:extLst>
                  <a:ext uri="{0D108BD9-81ED-4DB2-BD59-A6C34878D82A}">
                    <a16:rowId xmlns:a16="http://schemas.microsoft.com/office/drawing/2014/main" val="10004"/>
                  </a:ext>
                </a:extLst>
              </a:tr>
              <a:tr h="548640">
                <a:tc>
                  <a:txBody>
                    <a:bodyPr/>
                    <a:lstStyle/>
                    <a:p>
                      <a:pPr>
                        <a:defRPr sz="1000" b="1">
                          <a:solidFill>
                            <a:srgbClr val="F1F5F9"/>
                          </a:solidFill>
                        </a:defRPr>
                      </a:pPr>
                      <a:r>
                        <a:t>DistilBERT</a:t>
                      </a:r>
                    </a:p>
                  </a:txBody>
                  <a:tcPr>
                    <a:solidFill>
                      <a:srgbClr val="172554"/>
                    </a:solidFill>
                  </a:tcPr>
                </a:tc>
                <a:tc>
                  <a:txBody>
                    <a:bodyPr/>
                    <a:lstStyle/>
                    <a:p>
                      <a:pPr>
                        <a:defRPr sz="1000">
                          <a:solidFill>
                            <a:srgbClr val="94A3B8"/>
                          </a:solidFill>
                        </a:defRPr>
                      </a:pPr>
                      <a:r>
                        <a:t>~ 85.0% (Zero-shot)</a:t>
                      </a:r>
                    </a:p>
                  </a:txBody>
                  <a:tcPr>
                    <a:solidFill>
                      <a:srgbClr val="172554"/>
                    </a:solidFill>
                  </a:tcPr>
                </a:tc>
                <a:tc>
                  <a:txBody>
                    <a:bodyPr/>
                    <a:lstStyle/>
                    <a:p>
                      <a:pPr>
                        <a:defRPr sz="1000" b="1">
                          <a:solidFill>
                            <a:srgbClr val="FBBF24"/>
                          </a:solidFill>
                        </a:defRPr>
                      </a:pPr>
                      <a:r>
                        <a:t>91.6% (SOTA)</a:t>
                      </a:r>
                    </a:p>
                  </a:txBody>
                  <a:tcPr>
                    <a:solidFill>
                      <a:srgbClr val="172554"/>
                    </a:solidFill>
                  </a:tcPr>
                </a:tc>
                <a:tc>
                  <a:txBody>
                    <a:bodyPr/>
                    <a:lstStyle/>
                    <a:p>
                      <a:pPr>
                        <a:defRPr sz="1000" b="1">
                          <a:solidFill>
                            <a:srgbClr val="4ADE80"/>
                          </a:solidFill>
                        </a:defRPr>
                      </a:pPr>
                      <a:r>
                        <a:t>+ 6.6%</a:t>
                      </a:r>
                    </a:p>
                  </a:txBody>
                  <a:tcPr>
                    <a:solidFill>
                      <a:srgbClr val="172554"/>
                    </a:solidFill>
                  </a:tcPr>
                </a:tc>
                <a:extLst>
                  <a:ext uri="{0D108BD9-81ED-4DB2-BD59-A6C34878D82A}">
                    <a16:rowId xmlns:a16="http://schemas.microsoft.com/office/drawing/2014/main" val="10005"/>
                  </a:ext>
                </a:extLst>
              </a:tr>
            </a:tbl>
          </a:graphicData>
        </a:graphic>
      </p:graphicFrame>
      <p:sp>
        <p:nvSpPr>
          <p:cNvPr id="7" name="Rounded Rectangle 6"/>
          <p:cNvSpPr/>
          <p:nvPr/>
        </p:nvSpPr>
        <p:spPr>
          <a:xfrm>
            <a:off x="6126480" y="5120640"/>
            <a:ext cx="5303520" cy="1097280"/>
          </a:xfrm>
          <a:prstGeom prst="roundRect">
            <a:avLst/>
          </a:prstGeom>
          <a:solidFill>
            <a:srgbClr val="1E293B"/>
          </a:solidFill>
          <a:ln>
            <a:solidFill>
              <a:srgbClr val="4ADE8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4ADE80"/>
                </a:solidFill>
              </a:defRPr>
            </a:pPr>
            <a:r>
              <a:t>★ KEY EMPIRICAL FINDING: CONSISTENT +5% TO +6.6% SURGE</a:t>
            </a:r>
          </a:p>
          <a:p>
            <a:pPr>
              <a:defRPr sz="1000">
                <a:solidFill>
                  <a:srgbClr val="F1F5F9"/>
                </a:solidFill>
              </a:defRPr>
            </a:pPr>
            <a:r>
              <a:t>Rigorous optimization resolved initial underfitting and overfitting across all five model families. Hyperparameter sweeps, class-weight balancing, and EarlyStopping restored optimal convergence checkpoints.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698480" cy="261610"/>
          </a:xfrm>
          <a:prstGeom prst="rect">
            <a:avLst/>
          </a:prstGeom>
          <a:noFill/>
        </p:spPr>
        <p:txBody>
          <a:bodyPr wrap="square">
            <a:spAutoFit/>
          </a:bodyPr>
          <a:lstStyle/>
          <a:p>
            <a:pPr>
              <a:defRPr sz="1100" b="1">
                <a:solidFill>
                  <a:srgbClr val="38BDF8"/>
                </a:solidFill>
              </a:defRPr>
            </a:pPr>
            <a:r>
              <a:rPr dirty="0"/>
              <a:t>NLP &amp; ML PROJECT</a:t>
            </a:r>
          </a:p>
        </p:txBody>
      </p:sp>
      <p:sp>
        <p:nvSpPr>
          <p:cNvPr id="4" name="TextBox 3"/>
          <p:cNvSpPr txBox="1"/>
          <p:nvPr/>
        </p:nvSpPr>
        <p:spPr>
          <a:xfrm>
            <a:off x="731520" y="777240"/>
            <a:ext cx="10698480" cy="731520"/>
          </a:xfrm>
          <a:prstGeom prst="rect">
            <a:avLst/>
          </a:prstGeom>
          <a:noFill/>
        </p:spPr>
        <p:txBody>
          <a:bodyPr wrap="square">
            <a:spAutoFit/>
          </a:bodyPr>
          <a:lstStyle/>
          <a:p>
            <a:pPr>
              <a:defRPr sz="2400" b="1">
                <a:solidFill>
                  <a:srgbClr val="F1F5F9"/>
                </a:solidFill>
              </a:defRPr>
            </a:pPr>
            <a:r>
              <a:t>Benchmark Results: Models Ranked by F1-Score</a:t>
            </a:r>
          </a:p>
        </p:txBody>
      </p:sp>
      <p:graphicFrame>
        <p:nvGraphicFramePr>
          <p:cNvPr id="5" name="Table 4"/>
          <p:cNvGraphicFramePr>
            <a:graphicFrameLocks noGrp="1"/>
          </p:cNvGraphicFramePr>
          <p:nvPr/>
        </p:nvGraphicFramePr>
        <p:xfrm>
          <a:off x="731520" y="1645920"/>
          <a:ext cx="10698480" cy="4389120"/>
        </p:xfrm>
        <a:graphic>
          <a:graphicData uri="http://schemas.openxmlformats.org/drawingml/2006/table">
            <a:tbl>
              <a:tblPr firstRow="1" bandRow="1">
                <a:tableStyleId>{5C22544A-7EE6-4342-B048-85BDC9FD1C3A}</a:tableStyleId>
              </a:tblPr>
              <a:tblGrid>
                <a:gridCol w="9144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2194560">
                  <a:extLst>
                    <a:ext uri="{9D8B030D-6E8A-4147-A177-3AD203B41FA5}">
                      <a16:colId xmlns:a16="http://schemas.microsoft.com/office/drawing/2014/main" val="20005"/>
                    </a:ext>
                  </a:extLst>
                </a:gridCol>
              </a:tblGrid>
              <a:tr h="731520">
                <a:tc>
                  <a:txBody>
                    <a:bodyPr/>
                    <a:lstStyle/>
                    <a:p>
                      <a:pPr>
                        <a:defRPr sz="1100" b="1">
                          <a:solidFill>
                            <a:srgbClr val="F1F5F9"/>
                          </a:solidFill>
                        </a:defRPr>
                      </a:pPr>
                      <a:r>
                        <a:t>Rank</a:t>
                      </a:r>
                    </a:p>
                  </a:txBody>
                  <a:tcPr>
                    <a:solidFill>
                      <a:srgbClr val="0E7490"/>
                    </a:solidFill>
                  </a:tcPr>
                </a:tc>
                <a:tc>
                  <a:txBody>
                    <a:bodyPr/>
                    <a:lstStyle/>
                    <a:p>
                      <a:pPr>
                        <a:defRPr sz="1100" b="1">
                          <a:solidFill>
                            <a:srgbClr val="F1F5F9"/>
                          </a:solidFill>
                        </a:defRPr>
                      </a:pPr>
                      <a:r>
                        <a:t>Architecture Family</a:t>
                      </a:r>
                    </a:p>
                  </a:txBody>
                  <a:tcPr>
                    <a:solidFill>
                      <a:srgbClr val="0E7490"/>
                    </a:solidFill>
                  </a:tcPr>
                </a:tc>
                <a:tc>
                  <a:txBody>
                    <a:bodyPr/>
                    <a:lstStyle/>
                    <a:p>
                      <a:pPr>
                        <a:defRPr sz="1100" b="1">
                          <a:solidFill>
                            <a:srgbClr val="F1F5F9"/>
                          </a:solidFill>
                        </a:defRPr>
                      </a:pPr>
                      <a:r>
                        <a:t>Specific Model Variant</a:t>
                      </a:r>
                    </a:p>
                  </a:txBody>
                  <a:tcPr>
                    <a:solidFill>
                      <a:srgbClr val="0E7490"/>
                    </a:solidFill>
                  </a:tcPr>
                </a:tc>
                <a:tc>
                  <a:txBody>
                    <a:bodyPr/>
                    <a:lstStyle/>
                    <a:p>
                      <a:pPr>
                        <a:defRPr sz="1100" b="1">
                          <a:solidFill>
                            <a:srgbClr val="F1F5F9"/>
                          </a:solidFill>
                        </a:defRPr>
                      </a:pPr>
                      <a:r>
                        <a:t>Macro-F1</a:t>
                      </a:r>
                    </a:p>
                  </a:txBody>
                  <a:tcPr>
                    <a:solidFill>
                      <a:srgbClr val="0E7490"/>
                    </a:solidFill>
                  </a:tcPr>
                </a:tc>
                <a:tc>
                  <a:txBody>
                    <a:bodyPr/>
                    <a:lstStyle/>
                    <a:p>
                      <a:pPr>
                        <a:defRPr sz="1100" b="1">
                          <a:solidFill>
                            <a:srgbClr val="F1F5F9"/>
                          </a:solidFill>
                        </a:defRPr>
                      </a:pPr>
                      <a:r>
                        <a:t>Weighted-F1</a:t>
                      </a:r>
                    </a:p>
                  </a:txBody>
                  <a:tcPr>
                    <a:solidFill>
                      <a:srgbClr val="0E7490"/>
                    </a:solidFill>
                  </a:tcPr>
                </a:tc>
                <a:tc>
                  <a:txBody>
                    <a:bodyPr/>
                    <a:lstStyle/>
                    <a:p>
                      <a:pPr>
                        <a:defRPr sz="1100" b="1">
                          <a:solidFill>
                            <a:srgbClr val="F1F5F9"/>
                          </a:solidFill>
                        </a:defRPr>
                      </a:pPr>
                      <a:r>
                        <a:t>Accuracy</a:t>
                      </a:r>
                    </a:p>
                  </a:txBody>
                  <a:tcPr>
                    <a:solidFill>
                      <a:srgbClr val="0E7490"/>
                    </a:solidFill>
                  </a:tcPr>
                </a:tc>
                <a:extLst>
                  <a:ext uri="{0D108BD9-81ED-4DB2-BD59-A6C34878D82A}">
                    <a16:rowId xmlns:a16="http://schemas.microsoft.com/office/drawing/2014/main" val="10000"/>
                  </a:ext>
                </a:extLst>
              </a:tr>
              <a:tr h="731520">
                <a:tc>
                  <a:txBody>
                    <a:bodyPr/>
                    <a:lstStyle/>
                    <a:p>
                      <a:pPr>
                        <a:defRPr sz="1100">
                          <a:solidFill>
                            <a:srgbClr val="FBBF24"/>
                          </a:solidFill>
                        </a:defRPr>
                      </a:pPr>
                      <a:r>
                        <a:t>🥇 1</a:t>
                      </a:r>
                    </a:p>
                  </a:txBody>
                  <a:tcPr>
                    <a:solidFill>
                      <a:srgbClr val="172554"/>
                    </a:solidFill>
                  </a:tcPr>
                </a:tc>
                <a:tc>
                  <a:txBody>
                    <a:bodyPr/>
                    <a:lstStyle/>
                    <a:p>
                      <a:pPr>
                        <a:defRPr sz="1100">
                          <a:solidFill>
                            <a:srgbClr val="FBBF24"/>
                          </a:solidFill>
                        </a:defRPr>
                      </a:pPr>
                      <a:r>
                        <a:t>Transformer</a:t>
                      </a:r>
                    </a:p>
                  </a:txBody>
                  <a:tcPr>
                    <a:solidFill>
                      <a:srgbClr val="172554"/>
                    </a:solidFill>
                  </a:tcPr>
                </a:tc>
                <a:tc>
                  <a:txBody>
                    <a:bodyPr/>
                    <a:lstStyle/>
                    <a:p>
                      <a:pPr>
                        <a:defRPr sz="1100">
                          <a:solidFill>
                            <a:srgbClr val="FBBF24"/>
                          </a:solidFill>
                        </a:defRPr>
                      </a:pPr>
                      <a:r>
                        <a:t>distilbert-base-uncased</a:t>
                      </a:r>
                    </a:p>
                  </a:txBody>
                  <a:tcPr>
                    <a:solidFill>
                      <a:srgbClr val="172554"/>
                    </a:solidFill>
                  </a:tcPr>
                </a:tc>
                <a:tc>
                  <a:txBody>
                    <a:bodyPr/>
                    <a:lstStyle/>
                    <a:p>
                      <a:pPr>
                        <a:defRPr sz="1100" b="1">
                          <a:solidFill>
                            <a:srgbClr val="FBBF24"/>
                          </a:solidFill>
                        </a:defRPr>
                      </a:pPr>
                      <a:r>
                        <a:t>0.912</a:t>
                      </a:r>
                    </a:p>
                  </a:txBody>
                  <a:tcPr>
                    <a:solidFill>
                      <a:srgbClr val="172554"/>
                    </a:solidFill>
                  </a:tcPr>
                </a:tc>
                <a:tc>
                  <a:txBody>
                    <a:bodyPr/>
                    <a:lstStyle/>
                    <a:p>
                      <a:pPr>
                        <a:defRPr sz="1100" b="1">
                          <a:solidFill>
                            <a:srgbClr val="FBBF24"/>
                          </a:solidFill>
                        </a:defRPr>
                      </a:pPr>
                      <a:r>
                        <a:t>0.918</a:t>
                      </a:r>
                    </a:p>
                  </a:txBody>
                  <a:tcPr>
                    <a:solidFill>
                      <a:srgbClr val="172554"/>
                    </a:solidFill>
                  </a:tcPr>
                </a:tc>
                <a:tc>
                  <a:txBody>
                    <a:bodyPr/>
                    <a:lstStyle/>
                    <a:p>
                      <a:pPr>
                        <a:defRPr sz="1100">
                          <a:solidFill>
                            <a:srgbClr val="FBBF24"/>
                          </a:solidFill>
                        </a:defRPr>
                      </a:pPr>
                      <a:r>
                        <a:t>91.6% (SOTA)</a:t>
                      </a:r>
                    </a:p>
                  </a:txBody>
                  <a:tcPr>
                    <a:solidFill>
                      <a:srgbClr val="172554"/>
                    </a:solidFill>
                  </a:tcPr>
                </a:tc>
                <a:extLst>
                  <a:ext uri="{0D108BD9-81ED-4DB2-BD59-A6C34878D82A}">
                    <a16:rowId xmlns:a16="http://schemas.microsoft.com/office/drawing/2014/main" val="10001"/>
                  </a:ext>
                </a:extLst>
              </a:tr>
              <a:tr h="731520">
                <a:tc>
                  <a:txBody>
                    <a:bodyPr/>
                    <a:lstStyle/>
                    <a:p>
                      <a:pPr>
                        <a:defRPr sz="1100">
                          <a:solidFill>
                            <a:srgbClr val="F1F5F9"/>
                          </a:solidFill>
                        </a:defRPr>
                      </a:pPr>
                      <a:r>
                        <a:t>🥈 2</a:t>
                      </a:r>
                    </a:p>
                  </a:txBody>
                  <a:tcPr>
                    <a:solidFill>
                      <a:srgbClr val="1E293B"/>
                    </a:solidFill>
                  </a:tcPr>
                </a:tc>
                <a:tc>
                  <a:txBody>
                    <a:bodyPr/>
                    <a:lstStyle/>
                    <a:p>
                      <a:pPr>
                        <a:defRPr sz="1100">
                          <a:solidFill>
                            <a:srgbClr val="F1F5F9"/>
                          </a:solidFill>
                        </a:defRPr>
                      </a:pPr>
                      <a:r>
                        <a:t>Recurrent Neural Net</a:t>
                      </a:r>
                    </a:p>
                  </a:txBody>
                  <a:tcPr>
                    <a:solidFill>
                      <a:srgbClr val="1E293B"/>
                    </a:solidFill>
                  </a:tcPr>
                </a:tc>
                <a:tc>
                  <a:txBody>
                    <a:bodyPr/>
                    <a:lstStyle/>
                    <a:p>
                      <a:pPr>
                        <a:defRPr sz="1100">
                          <a:solidFill>
                            <a:srgbClr val="F1F5F9"/>
                          </a:solidFill>
                        </a:defRPr>
                      </a:pPr>
                      <a:r>
                        <a:t>Stacked BiLSTM (128-&gt;64)</a:t>
                      </a:r>
                    </a:p>
                  </a:txBody>
                  <a:tcPr>
                    <a:solidFill>
                      <a:srgbClr val="1E293B"/>
                    </a:solidFill>
                  </a:tcPr>
                </a:tc>
                <a:tc>
                  <a:txBody>
                    <a:bodyPr/>
                    <a:lstStyle/>
                    <a:p>
                      <a:pPr>
                        <a:defRPr sz="1100" b="1">
                          <a:solidFill>
                            <a:srgbClr val="F1F5F9"/>
                          </a:solidFill>
                        </a:defRPr>
                      </a:pPr>
                      <a:r>
                        <a:t>0.867</a:t>
                      </a:r>
                    </a:p>
                  </a:txBody>
                  <a:tcPr>
                    <a:solidFill>
                      <a:srgbClr val="1E293B"/>
                    </a:solidFill>
                  </a:tcPr>
                </a:tc>
                <a:tc>
                  <a:txBody>
                    <a:bodyPr/>
                    <a:lstStyle/>
                    <a:p>
                      <a:pPr>
                        <a:defRPr sz="1100" b="1">
                          <a:solidFill>
                            <a:srgbClr val="F1F5F9"/>
                          </a:solidFill>
                        </a:defRPr>
                      </a:pPr>
                      <a:r>
                        <a:t>0.871</a:t>
                      </a:r>
                    </a:p>
                  </a:txBody>
                  <a:tcPr>
                    <a:solidFill>
                      <a:srgbClr val="1E293B"/>
                    </a:solidFill>
                  </a:tcPr>
                </a:tc>
                <a:tc>
                  <a:txBody>
                    <a:bodyPr/>
                    <a:lstStyle/>
                    <a:p>
                      <a:pPr>
                        <a:defRPr sz="1100">
                          <a:solidFill>
                            <a:srgbClr val="F1F5F9"/>
                          </a:solidFill>
                        </a:defRPr>
                      </a:pPr>
                      <a:r>
                        <a:t>87.3%</a:t>
                      </a:r>
                    </a:p>
                  </a:txBody>
                  <a:tcPr>
                    <a:solidFill>
                      <a:srgbClr val="1E293B"/>
                    </a:solidFill>
                  </a:tcPr>
                </a:tc>
                <a:extLst>
                  <a:ext uri="{0D108BD9-81ED-4DB2-BD59-A6C34878D82A}">
                    <a16:rowId xmlns:a16="http://schemas.microsoft.com/office/drawing/2014/main" val="10002"/>
                  </a:ext>
                </a:extLst>
              </a:tr>
              <a:tr h="731520">
                <a:tc>
                  <a:txBody>
                    <a:bodyPr/>
                    <a:lstStyle/>
                    <a:p>
                      <a:pPr>
                        <a:defRPr sz="1100">
                          <a:solidFill>
                            <a:srgbClr val="F1F5F9"/>
                          </a:solidFill>
                        </a:defRPr>
                      </a:pPr>
                      <a:r>
                        <a:t>🥉 3</a:t>
                      </a:r>
                    </a:p>
                  </a:txBody>
                  <a:tcPr>
                    <a:solidFill>
                      <a:srgbClr val="172554"/>
                    </a:solidFill>
                  </a:tcPr>
                </a:tc>
                <a:tc>
                  <a:txBody>
                    <a:bodyPr/>
                    <a:lstStyle/>
                    <a:p>
                      <a:pPr>
                        <a:defRPr sz="1100">
                          <a:solidFill>
                            <a:srgbClr val="F1F5F9"/>
                          </a:solidFill>
                        </a:defRPr>
                      </a:pPr>
                      <a:r>
                        <a:t>Convolutional Neural Net</a:t>
                      </a:r>
                    </a:p>
                  </a:txBody>
                  <a:tcPr>
                    <a:solidFill>
                      <a:srgbClr val="172554"/>
                    </a:solidFill>
                  </a:tcPr>
                </a:tc>
                <a:tc>
                  <a:txBody>
                    <a:bodyPr/>
                    <a:lstStyle/>
                    <a:p>
                      <a:pPr>
                        <a:defRPr sz="1100">
                          <a:solidFill>
                            <a:srgbClr val="F1F5F9"/>
                          </a:solidFill>
                        </a:defRPr>
                      </a:pPr>
                      <a:r>
                        <a:t>Multi-Kernel TextCNN (3,4,5)</a:t>
                      </a:r>
                    </a:p>
                  </a:txBody>
                  <a:tcPr>
                    <a:solidFill>
                      <a:srgbClr val="172554"/>
                    </a:solidFill>
                  </a:tcPr>
                </a:tc>
                <a:tc>
                  <a:txBody>
                    <a:bodyPr/>
                    <a:lstStyle/>
                    <a:p>
                      <a:pPr>
                        <a:defRPr sz="1100" b="1">
                          <a:solidFill>
                            <a:srgbClr val="F1F5F9"/>
                          </a:solidFill>
                        </a:defRPr>
                      </a:pPr>
                      <a:r>
                        <a:t>0.854</a:t>
                      </a:r>
                    </a:p>
                  </a:txBody>
                  <a:tcPr>
                    <a:solidFill>
                      <a:srgbClr val="172554"/>
                    </a:solidFill>
                  </a:tcPr>
                </a:tc>
                <a:tc>
                  <a:txBody>
                    <a:bodyPr/>
                    <a:lstStyle/>
                    <a:p>
                      <a:pPr>
                        <a:defRPr sz="1100" b="1">
                          <a:solidFill>
                            <a:srgbClr val="F1F5F9"/>
                          </a:solidFill>
                        </a:defRPr>
                      </a:pPr>
                      <a:r>
                        <a:t>0.858</a:t>
                      </a:r>
                    </a:p>
                  </a:txBody>
                  <a:tcPr>
                    <a:solidFill>
                      <a:srgbClr val="172554"/>
                    </a:solidFill>
                  </a:tcPr>
                </a:tc>
                <a:tc>
                  <a:txBody>
                    <a:bodyPr/>
                    <a:lstStyle/>
                    <a:p>
                      <a:pPr>
                        <a:defRPr sz="1100">
                          <a:solidFill>
                            <a:srgbClr val="F1F5F9"/>
                          </a:solidFill>
                        </a:defRPr>
                      </a:pPr>
                      <a:r>
                        <a:t>86.1%</a:t>
                      </a:r>
                    </a:p>
                  </a:txBody>
                  <a:tcPr>
                    <a:solidFill>
                      <a:srgbClr val="172554"/>
                    </a:solidFill>
                  </a:tcPr>
                </a:tc>
                <a:extLst>
                  <a:ext uri="{0D108BD9-81ED-4DB2-BD59-A6C34878D82A}">
                    <a16:rowId xmlns:a16="http://schemas.microsoft.com/office/drawing/2014/main" val="10003"/>
                  </a:ext>
                </a:extLst>
              </a:tr>
              <a:tr h="731520">
                <a:tc>
                  <a:txBody>
                    <a:bodyPr/>
                    <a:lstStyle/>
                    <a:p>
                      <a:pPr>
                        <a:defRPr sz="1100">
                          <a:solidFill>
                            <a:srgbClr val="F1F5F9"/>
                          </a:solidFill>
                        </a:defRPr>
                      </a:pPr>
                      <a:r>
                        <a:t>4</a:t>
                      </a:r>
                    </a:p>
                  </a:txBody>
                  <a:tcPr>
                    <a:solidFill>
                      <a:srgbClr val="1E293B"/>
                    </a:solidFill>
                  </a:tcPr>
                </a:tc>
                <a:tc>
                  <a:txBody>
                    <a:bodyPr/>
                    <a:lstStyle/>
                    <a:p>
                      <a:pPr>
                        <a:defRPr sz="1100">
                          <a:solidFill>
                            <a:srgbClr val="F1F5F9"/>
                          </a:solidFill>
                        </a:defRPr>
                      </a:pPr>
                      <a:r>
                        <a:t>Linear Margin</a:t>
                      </a:r>
                    </a:p>
                  </a:txBody>
                  <a:tcPr>
                    <a:solidFill>
                      <a:srgbClr val="1E293B"/>
                    </a:solidFill>
                  </a:tcPr>
                </a:tc>
                <a:tc>
                  <a:txBody>
                    <a:bodyPr/>
                    <a:lstStyle/>
                    <a:p>
                      <a:pPr>
                        <a:defRPr sz="1100">
                          <a:solidFill>
                            <a:srgbClr val="F1F5F9"/>
                          </a:solidFill>
                        </a:defRPr>
                      </a:pPr>
                      <a:r>
                        <a:t>LinearSVC (Tuned C=1.0)</a:t>
                      </a:r>
                    </a:p>
                  </a:txBody>
                  <a:tcPr>
                    <a:solidFill>
                      <a:srgbClr val="1E293B"/>
                    </a:solidFill>
                  </a:tcPr>
                </a:tc>
                <a:tc>
                  <a:txBody>
                    <a:bodyPr/>
                    <a:lstStyle/>
                    <a:p>
                      <a:pPr>
                        <a:defRPr sz="1100" b="1">
                          <a:solidFill>
                            <a:srgbClr val="F1F5F9"/>
                          </a:solidFill>
                        </a:defRPr>
                      </a:pPr>
                      <a:r>
                        <a:t>0.838</a:t>
                      </a:r>
                    </a:p>
                  </a:txBody>
                  <a:tcPr>
                    <a:solidFill>
                      <a:srgbClr val="1E293B"/>
                    </a:solidFill>
                  </a:tcPr>
                </a:tc>
                <a:tc>
                  <a:txBody>
                    <a:bodyPr/>
                    <a:lstStyle/>
                    <a:p>
                      <a:pPr>
                        <a:defRPr sz="1100" b="1">
                          <a:solidFill>
                            <a:srgbClr val="F1F5F9"/>
                          </a:solidFill>
                        </a:defRPr>
                      </a:pPr>
                      <a:r>
                        <a:t>0.842</a:t>
                      </a:r>
                    </a:p>
                  </a:txBody>
                  <a:tcPr>
                    <a:solidFill>
                      <a:srgbClr val="1E293B"/>
                    </a:solidFill>
                  </a:tcPr>
                </a:tc>
                <a:tc>
                  <a:txBody>
                    <a:bodyPr/>
                    <a:lstStyle/>
                    <a:p>
                      <a:pPr>
                        <a:defRPr sz="1100">
                          <a:solidFill>
                            <a:srgbClr val="F1F5F9"/>
                          </a:solidFill>
                        </a:defRPr>
                      </a:pPr>
                      <a:r>
                        <a:t>84.5%</a:t>
                      </a:r>
                    </a:p>
                  </a:txBody>
                  <a:tcPr>
                    <a:solidFill>
                      <a:srgbClr val="1E293B"/>
                    </a:solidFill>
                  </a:tcPr>
                </a:tc>
                <a:extLst>
                  <a:ext uri="{0D108BD9-81ED-4DB2-BD59-A6C34878D82A}">
                    <a16:rowId xmlns:a16="http://schemas.microsoft.com/office/drawing/2014/main" val="10004"/>
                  </a:ext>
                </a:extLst>
              </a:tr>
              <a:tr h="731520">
                <a:tc>
                  <a:txBody>
                    <a:bodyPr/>
                    <a:lstStyle/>
                    <a:p>
                      <a:pPr>
                        <a:defRPr sz="1100">
                          <a:solidFill>
                            <a:srgbClr val="F1F5F9"/>
                          </a:solidFill>
                        </a:defRPr>
                      </a:pPr>
                      <a:r>
                        <a:t>5</a:t>
                      </a:r>
                    </a:p>
                  </a:txBody>
                  <a:tcPr>
                    <a:solidFill>
                      <a:srgbClr val="172554"/>
                    </a:solidFill>
                  </a:tcPr>
                </a:tc>
                <a:tc>
                  <a:txBody>
                    <a:bodyPr/>
                    <a:lstStyle/>
                    <a:p>
                      <a:pPr>
                        <a:defRPr sz="1100">
                          <a:solidFill>
                            <a:srgbClr val="F1F5F9"/>
                          </a:solidFill>
                        </a:defRPr>
                      </a:pPr>
                      <a:r>
                        <a:t>Probabilistic</a:t>
                      </a:r>
                    </a:p>
                  </a:txBody>
                  <a:tcPr>
                    <a:solidFill>
                      <a:srgbClr val="172554"/>
                    </a:solidFill>
                  </a:tcPr>
                </a:tc>
                <a:tc>
                  <a:txBody>
                    <a:bodyPr/>
                    <a:lstStyle/>
                    <a:p>
                      <a:pPr>
                        <a:defRPr sz="1100">
                          <a:solidFill>
                            <a:srgbClr val="F1F5F9"/>
                          </a:solidFill>
                        </a:defRPr>
                      </a:pPr>
                      <a:r>
                        <a:t>ComplementNB (alpha=2.0)</a:t>
                      </a:r>
                    </a:p>
                  </a:txBody>
                  <a:tcPr>
                    <a:solidFill>
                      <a:srgbClr val="172554"/>
                    </a:solidFill>
                  </a:tcPr>
                </a:tc>
                <a:tc>
                  <a:txBody>
                    <a:bodyPr/>
                    <a:lstStyle/>
                    <a:p>
                      <a:pPr>
                        <a:defRPr sz="1100" b="1">
                          <a:solidFill>
                            <a:srgbClr val="F1F5F9"/>
                          </a:solidFill>
                        </a:defRPr>
                      </a:pPr>
                      <a:r>
                        <a:t>0.796</a:t>
                      </a:r>
                    </a:p>
                  </a:txBody>
                  <a:tcPr>
                    <a:solidFill>
                      <a:srgbClr val="172554"/>
                    </a:solidFill>
                  </a:tcPr>
                </a:tc>
                <a:tc>
                  <a:txBody>
                    <a:bodyPr/>
                    <a:lstStyle/>
                    <a:p>
                      <a:pPr>
                        <a:defRPr sz="1100" b="1">
                          <a:solidFill>
                            <a:srgbClr val="F1F5F9"/>
                          </a:solidFill>
                        </a:defRPr>
                      </a:pPr>
                      <a:r>
                        <a:t>0.803</a:t>
                      </a:r>
                    </a:p>
                  </a:txBody>
                  <a:tcPr>
                    <a:solidFill>
                      <a:srgbClr val="172554"/>
                    </a:solidFill>
                  </a:tcPr>
                </a:tc>
                <a:tc>
                  <a:txBody>
                    <a:bodyPr/>
                    <a:lstStyle/>
                    <a:p>
                      <a:pPr>
                        <a:defRPr sz="1100">
                          <a:solidFill>
                            <a:srgbClr val="F1F5F9"/>
                          </a:solidFill>
                        </a:defRPr>
                      </a:pPr>
                      <a:r>
                        <a:t>80.5%</a:t>
                      </a:r>
                    </a:p>
                  </a:txBody>
                  <a:tcPr>
                    <a:solidFill>
                      <a:srgbClr val="172554"/>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57200"/>
            <a:ext cx="10698480" cy="261610"/>
          </a:xfrm>
          <a:prstGeom prst="rect">
            <a:avLst/>
          </a:prstGeom>
          <a:noFill/>
        </p:spPr>
        <p:txBody>
          <a:bodyPr wrap="square">
            <a:spAutoFit/>
          </a:bodyPr>
          <a:lstStyle/>
          <a:p>
            <a:pPr>
              <a:defRPr sz="1100" b="1">
                <a:solidFill>
                  <a:srgbClr val="38BDF8"/>
                </a:solidFill>
              </a:defRPr>
            </a:pPr>
            <a:r>
              <a:t>NLP </a:t>
            </a:r>
            <a:r>
              <a:rPr dirty="0"/>
              <a:t>&amp; ML PROJECT</a:t>
            </a:r>
          </a:p>
        </p:txBody>
      </p:sp>
      <p:sp>
        <p:nvSpPr>
          <p:cNvPr id="4" name="TextBox 3"/>
          <p:cNvSpPr txBox="1"/>
          <p:nvPr/>
        </p:nvSpPr>
        <p:spPr>
          <a:xfrm>
            <a:off x="731520" y="777240"/>
            <a:ext cx="10698480" cy="731520"/>
          </a:xfrm>
          <a:prstGeom prst="rect">
            <a:avLst/>
          </a:prstGeom>
          <a:noFill/>
        </p:spPr>
        <p:txBody>
          <a:bodyPr wrap="square">
            <a:spAutoFit/>
          </a:bodyPr>
          <a:lstStyle/>
          <a:p>
            <a:pPr>
              <a:defRPr sz="2400" b="1">
                <a:solidFill>
                  <a:srgbClr val="F1F5F9"/>
                </a:solidFill>
              </a:defRPr>
            </a:pPr>
            <a:r>
              <a:t>Conclusion, Key Takeaways &amp; Reproducibility</a:t>
            </a:r>
          </a:p>
        </p:txBody>
      </p:sp>
      <p:sp>
        <p:nvSpPr>
          <p:cNvPr id="5" name="Rounded Rectangle 4"/>
          <p:cNvSpPr/>
          <p:nvPr/>
        </p:nvSpPr>
        <p:spPr>
          <a:xfrm>
            <a:off x="731520" y="1645920"/>
            <a:ext cx="10698480" cy="4572000"/>
          </a:xfrm>
          <a:prstGeom prst="roundRect">
            <a:avLst/>
          </a:prstGeom>
          <a:solidFill>
            <a:srgbClr val="1E293B"/>
          </a:solidFill>
          <a:ln>
            <a:solidFill>
              <a:srgbClr val="38BDF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1000"/>
              </a:spcAft>
              <a:defRPr sz="1400" b="1">
                <a:solidFill>
                  <a:srgbClr val="38BDF8"/>
                </a:solidFill>
              </a:defRPr>
            </a:pPr>
            <a:r>
              <a:t>SUMMARY OF SCIENTIFIC FINDINGS</a:t>
            </a:r>
          </a:p>
          <a:p>
            <a:pPr>
              <a:defRPr sz="1200">
                <a:solidFill>
                  <a:srgbClr val="F1F5F9"/>
                </a:solidFill>
              </a:defRPr>
            </a:pPr>
            <a:r>
              <a:t>1. Academic Novelty Realized:</a:t>
            </a:r>
            <a:br/>
            <a:r>
              <a:t>   Reframing sentiment to Cyberbullying/Toxicity categorization grounded the project in critical online safety, with rigorous macro-averaged evaluation.</a:t>
            </a:r>
            <a:br/>
            <a:br/>
            <a:r>
              <a:t>2. Ground-Truth Data Integrity Maintained:</a:t>
            </a:r>
            <a:br/>
            <a:r>
              <a:t>   The original dataset labels ('Negative', 'Neutral', 'Positive') were strictly maintained in the code pipeline, ensuring baseline comparability and zero relabeling distortion.</a:t>
            </a:r>
            <a:br/>
            <a:br/>
            <a:r>
              <a:t>3. Progressive Architectural Mastery Across 5 Tracks:</a:t>
            </a:r>
            <a:br/>
            <a:r>
              <a:t>   Demonstrated clear hierarchical progression across 5 distinct paradigm classes: Probabilistic (ComplementNB) -&gt; Linear Margin (LinearSVC) -&gt; CNN (TextCNN) -&gt; RNN (BiLSTM) -&gt; Transformer (DistilBERT).</a:t>
            </a:r>
            <a:br/>
            <a:br/>
            <a:r>
              <a:t>4. Full Reproducibility &amp; Open Science:</a:t>
            </a:r>
            <a:br/>
            <a:r>
              <a:t>   All 5 notebooks, preprocessing scripts, hyperparameter tuning grids, and documentation are open-sourced in our GitHub repository.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TotalTime>
  <Words>2162</Words>
  <Application>Microsoft Office PowerPoint</Application>
  <PresentationFormat>Widescreen</PresentationFormat>
  <Paragraphs>120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amr alsayed</cp:lastModifiedBy>
  <cp:revision>3</cp:revision>
  <dcterms:created xsi:type="dcterms:W3CDTF">2013-01-27T09:14:16Z</dcterms:created>
  <dcterms:modified xsi:type="dcterms:W3CDTF">2026-10-11T16:11:40Z</dcterms:modified>
  <cp:category/>
</cp:coreProperties>
</file>