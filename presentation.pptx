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committee. Today we present our university research project on Cyberbullying and Toxicity Categorization in Social Media at Istanbul Gelişim University. Our team investigated five theoretical model families to build an equitable, reproducible NLP pipeline for online safety.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generic sentiment, we reframed our task into Cyberbullying and Toxicity Categorization. Our text pipeline converts emojis to text tokens, normalizes YouTube slang, and preserves vital negation words. Notice that we did not alter the original dataset labels—Negative, Neutral, and Positive remain intact in the dataset to preserve benchmark integrity, while mapping conceptually to Toxic, Neutral, and Safe.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exploratory data analysis revealed distinct length skews and high slang usage across comments. Crucially, the dataset has an organic class imbalance where toxic samples are in the minority. This proves why simple Accuracy is fundamentally misleading: our benchmark must prioritize Macro-F1 score to treat toxicity detection with equal clinical rigor.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classical baselines, we utilized high-dimensional TF-IDF unigram to trigram representations. We upgraded standard Naive Bayes to ComplementNB to correct class imbalance biases, and applied cost-sensitive class weighting to LinearSVC. Linear margin optimization reached an 83.8% Macro-F1 score with robust linear boundary separation.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Stepping into deep neural networks, our Multi-Kernel TextCNN captures multi-scale n-gram patterns through parallel convolutional filters. Our Stacked Bidirectional LSTM captures chronological word dependencies in both directions, resolving long-range context and boosting Macro-F1 to 86.7% with spatial dropout and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state-of-the-art target is the Transformer architecture, specifically the distilbert-base-uncased variant. With full bidirectional self-attention, cosine learning rate warmup, and early stopping on validation F1, DistilBERT captures subtle nuance, sarcasm, and masked harassment, establishing our project benchmark at 0.912 Macro-F1.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unified benchmark results. Models are strictly ranked by Macro-F1 score to address class imbalance. DistilBERT achieves the highest Macro-F1 of 0.912, outperforming classical baselines by over 11%. Each architectural upgrade—from linear hyperplanes to multi-kernel convolutions, recurrent memory, and self-attention—yields progressive, measurable gains.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research successfully validated five distinct architecture paradigms for toxicity detection, maintaining raw ground-truth label integrity while evaluating with rigorous Macro-F1 standards. All notebooks, datasets, and presentation materials are fully reproducible in our open repository. 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2743200"/>
          </a:xfrm>
          <a:prstGeom prst="rect">
            <a:avLst/>
          </a:prstGeom>
          <a:noFill/>
        </p:spPr>
        <p:txBody>
          <a:bodyPr wrap="square">
            <a:spAutoFit/>
          </a:bodyPr>
          <a:lstStyle/>
          <a:p>
            <a:pPr>
              <a:spcAft>
                <a:spcPts val="1200"/>
              </a:spcAft>
              <a:defRPr sz="1400" b="1">
                <a:solidFill>
                  <a:srgbClr val="38BDF8"/>
                </a:solidFill>
              </a:defRPr>
            </a:pPr>
            <a:r>
              <a:t>ISTANBUL GELİŞİM UNIVERSITY</a:t>
            </a:r>
          </a:p>
          <a:p>
            <a:pPr>
              <a:spcAft>
                <a:spcPts val="1200"/>
              </a:spcAft>
              <a:defRPr sz="3600" b="1">
                <a:solidFill>
                  <a:srgbClr val="F1F5F9"/>
                </a:solidFill>
              </a:defRPr>
            </a:pPr>
            <a:r>
              <a:t>Cyberbullying &amp; Toxicity Categorization in Social Media</a:t>
            </a:r>
          </a:p>
          <a:p>
            <a:pPr>
              <a:defRPr sz="1600">
                <a:solidFill>
                  <a:srgbClr val="94A3B8"/>
                </a:solidFill>
              </a:defRPr>
            </a:pPr>
            <a:r>
              <a:t>Benchmarking Probabilistic, Linear Margin, Deep Neural, and Transformer Architectures on Imbalanced Comment Data</a:t>
            </a:r>
          </a:p>
        </p:txBody>
      </p:sp>
      <p:sp>
        <p:nvSpPr>
          <p:cNvPr id="4" name="Rounded Rectangle 3"/>
          <p:cNvSpPr/>
          <p:nvPr/>
        </p:nvSpPr>
        <p:spPr>
          <a:xfrm>
            <a:off x="914400" y="4114800"/>
            <a:ext cx="10360152" cy="18288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FBBF24"/>
                </a:solidFill>
              </a:defRPr>
            </a:pPr>
            <a:r>
              <a:t>RESEARCH TEAM &amp; ROLES:</a:t>
            </a:r>
          </a:p>
          <a:p>
            <a:pPr>
              <a:defRPr sz="1100">
                <a:solidFill>
                  <a:srgbClr val="F1F5F9"/>
                </a:solidFill>
              </a:defRPr>
            </a:pPr>
            <a:r>
              <a:t>• Amr Alsayed (2309115638) - Team Lead &amp; Transformer Architecture (DistilBERT)</a:t>
            </a:r>
            <a:br/>
            <a:r>
              <a:t>• OMAR ELGAMAL (2309116447) - Deep Learning &amp; Recurrent Architecture (BiLSTM &amp; TextCNN)</a:t>
            </a:r>
            <a:br/>
            <a:r>
              <a:t>• Abdulrahman Alabar (220903363) - Linear Margin Maximization &amp; Tuning (LinearSVC)</a:t>
            </a:r>
            <a:br/>
            <a:r>
              <a:t>• Mohamed Aziz (220901206) - Data Engineering Pipeline &amp; ComplementNB Baseline</a:t>
            </a:r>
            <a:br/>
            <a:r>
              <a:t>• YAHIA ALHAMWI (2309115151) - Exploratory Data Analysis &amp; Metric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Task Reframing &amp; Advanced Data Preprocessing</a:t>
            </a:r>
          </a:p>
        </p:txBody>
      </p:sp>
      <p:sp>
        <p:nvSpPr>
          <p:cNvPr id="5" name="Rounded Rectangle 4"/>
          <p:cNvSpPr/>
          <p:nvPr/>
        </p:nvSpPr>
        <p:spPr>
          <a:xfrm>
            <a:off x="731520" y="1645920"/>
            <a:ext cx="5120640" cy="45720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38BDF8"/>
                </a:solidFill>
              </a:defRPr>
            </a:pPr>
            <a:r>
              <a:t>PREPROCESSING &amp; FEATURE ENGINEERING</a:t>
            </a:r>
          </a:p>
          <a:p>
            <a:pPr>
              <a:defRPr sz="1150">
                <a:solidFill>
                  <a:srgbClr val="F1F5F9"/>
                </a:solidFill>
              </a:defRPr>
            </a:pPr>
            <a:r>
              <a:t>1. Emoji Demojizing:</a:t>
            </a:r>
            <a:br/>
            <a:r>
              <a:t>   Converts emotional symbols to tokens (e.g. 😡 -&gt; ':enraged_face:') to prevent sentiment loss.</a:t>
            </a:r>
            <a:br/>
            <a:br/>
            <a:r>
              <a:t>2. Social Media Slang Normalization:</a:t>
            </a:r>
            <a:br/>
            <a:r>
              <a:t>   Maps abbreviations (e.g. 'u' -&gt; 'you', 'tbh' -&gt; 'to be honest', 'smh' -&gt; 'shaking my head').</a:t>
            </a:r>
            <a:br/>
            <a:br/>
            <a:r>
              <a:t>3. Negation Preservation:</a:t>
            </a:r>
            <a:br/>
            <a:r>
              <a:t>   Custom stopword filter strictly retains 'not', 'no', 'never', 'don't' to avoid polarity reversal.</a:t>
            </a:r>
            <a:br/>
            <a:br/>
            <a:r>
              <a:t>4. Morphological Lemmatization:</a:t>
            </a:r>
            <a:br/>
            <a:r>
              <a:t>   Unifies inflectional word forms using WordNetLemmatizer.</a:t>
            </a:r>
          </a:p>
        </p:txBody>
      </p:sp>
      <p:sp>
        <p:nvSpPr>
          <p:cNvPr id="6" name="Rounded Rectangle 5"/>
          <p:cNvSpPr/>
          <p:nvPr/>
        </p:nvSpPr>
        <p:spPr>
          <a:xfrm>
            <a:off x="6217920" y="1645920"/>
            <a:ext cx="5212080" cy="457200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FBBF24"/>
                </a:solidFill>
              </a:defRPr>
            </a:pPr>
            <a:r>
              <a:t>ACADEMIC REFRAMING &amp; LABEL INTEGRITY</a:t>
            </a:r>
          </a:p>
          <a:p>
            <a:pPr>
              <a:defRPr sz="1150">
                <a:solidFill>
                  <a:srgbClr val="F1F5F9"/>
                </a:solidFill>
              </a:defRPr>
            </a:pPr>
            <a:r>
              <a:t>• Shift from Valence to Safety:</a:t>
            </a:r>
            <a:br/>
            <a:r>
              <a:t>  Generic sentiment analysis only measures emotional tone. We reframe the problem into Behavioral Toxicity Categorization.</a:t>
            </a:r>
            <a:br/>
            <a:br/>
            <a:r>
              <a:t>• Conceptual Class Mapping:</a:t>
            </a:r>
            <a:br/>
            <a:r>
              <a:t>  - Negative = Toxic (Harassment, insults, hate speech)</a:t>
            </a:r>
            <a:br/>
            <a:r>
              <a:t>  - Neutral  = Neutral (Queries, objective observations)</a:t>
            </a:r>
            <a:br/>
            <a:r>
              <a:t>  - Positive = Safe (Constructive civil interactions)</a:t>
            </a:r>
            <a:br/>
            <a:br/>
            <a:r>
              <a:t>★ CRITICAL NOTE ON DATASET LABELS:</a:t>
            </a:r>
            <a:br/>
            <a:r>
              <a:t>  We did NOT change the original labels ('Negative', 'Neutral', 'Positive') in the underlying dataset or codebase. Preserving the exact ground-truth labels avoids artificial relabeling bias while enabling rigorous toxicity categorization.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Exploratory Data Analysis &amp; Linguistic Characteristics</a:t>
            </a:r>
          </a:p>
        </p:txBody>
      </p:sp>
      <p:sp>
        <p:nvSpPr>
          <p:cNvPr id="5" name="Rounded Rectangle 4"/>
          <p:cNvSpPr/>
          <p:nvPr/>
        </p:nvSpPr>
        <p:spPr>
          <a:xfrm>
            <a:off x="731520" y="1645920"/>
            <a:ext cx="3291840" cy="20116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CLASS DISTRIBUTION</a:t>
            </a:r>
          </a:p>
          <a:p>
            <a:pPr>
              <a:spcAft>
                <a:spcPts val="400"/>
              </a:spcAft>
              <a:defRPr sz="2000" b="1">
                <a:solidFill>
                  <a:srgbClr val="F1F5F9"/>
                </a:solidFill>
              </a:defRPr>
            </a:pPr>
            <a:r>
              <a:t>Imbalanced Real-World Skew</a:t>
            </a:r>
          </a:p>
          <a:p>
            <a:pPr>
              <a:defRPr sz="1100">
                <a:solidFill>
                  <a:srgbClr val="94A3B8"/>
                </a:solidFill>
              </a:defRPr>
            </a:pPr>
            <a:r>
              <a:t>Neutral &amp; Safe comments substantially outnumber toxic attacks in organic social threads.</a:t>
            </a:r>
          </a:p>
        </p:txBody>
      </p:sp>
      <p:sp>
        <p:nvSpPr>
          <p:cNvPr id="6" name="Rounded Rectangle 5"/>
          <p:cNvSpPr/>
          <p:nvPr/>
        </p:nvSpPr>
        <p:spPr>
          <a:xfrm>
            <a:off x="4389120" y="1645920"/>
            <a:ext cx="3291840" cy="201168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BBF24"/>
                </a:solidFill>
              </a:defRPr>
            </a:pPr>
            <a:r>
              <a:t>COMMENT LENGTH METRICS</a:t>
            </a:r>
          </a:p>
          <a:p>
            <a:pPr>
              <a:spcAft>
                <a:spcPts val="400"/>
              </a:spcAft>
              <a:defRPr sz="2000" b="1">
                <a:solidFill>
                  <a:srgbClr val="F1F5F9"/>
                </a:solidFill>
              </a:defRPr>
            </a:pPr>
            <a:r>
              <a:t>High Length Variance</a:t>
            </a:r>
          </a:p>
          <a:p>
            <a:pPr>
              <a:defRPr sz="1100">
                <a:solidFill>
                  <a:srgbClr val="94A3B8"/>
                </a:solidFill>
              </a:defRPr>
            </a:pPr>
            <a:r>
              <a:t>Toxic comments exhibit sharp bimodal distribution (very brief hostile slurs vs. lengthy harangues).</a:t>
            </a:r>
          </a:p>
        </p:txBody>
      </p:sp>
      <p:sp>
        <p:nvSpPr>
          <p:cNvPr id="7" name="Rounded Rectangle 6"/>
          <p:cNvSpPr/>
          <p:nvPr/>
        </p:nvSpPr>
        <p:spPr>
          <a:xfrm>
            <a:off x="8046720" y="1645920"/>
            <a:ext cx="3291840" cy="2011680"/>
          </a:xfrm>
          <a:prstGeom prst="roundRect">
            <a:avLst/>
          </a:prstGeom>
          <a:solidFill>
            <a:srgbClr val="1E293B"/>
          </a:solidFill>
          <a:ln>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7171"/>
                </a:solidFill>
              </a:defRPr>
            </a:pPr>
            <a:r>
              <a:t>VOCABULARY CHARACTERISTICS</a:t>
            </a:r>
          </a:p>
          <a:p>
            <a:pPr>
              <a:spcAft>
                <a:spcPts val="400"/>
              </a:spcAft>
              <a:defRPr sz="2000" b="1">
                <a:solidFill>
                  <a:srgbClr val="F1F5F9"/>
                </a:solidFill>
              </a:defRPr>
            </a:pPr>
            <a:r>
              <a:t>High Slang &amp; Emoji Density</a:t>
            </a:r>
          </a:p>
          <a:p>
            <a:pPr>
              <a:defRPr sz="1100">
                <a:solidFill>
                  <a:srgbClr val="94A3B8"/>
                </a:solidFill>
              </a:defRPr>
            </a:pPr>
            <a:r>
              <a:t>Heavy presence of orthographic modifications, internet acronyms, and uppercase intensity.</a:t>
            </a:r>
          </a:p>
        </p:txBody>
      </p:sp>
      <p:sp>
        <p:nvSpPr>
          <p:cNvPr id="8" name="Rounded Rectangle 7"/>
          <p:cNvSpPr/>
          <p:nvPr/>
        </p:nvSpPr>
        <p:spPr>
          <a:xfrm>
            <a:off x="731520" y="4023360"/>
            <a:ext cx="10607040" cy="219456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38BDF8"/>
                </a:solidFill>
              </a:defRPr>
            </a:pPr>
            <a:r>
              <a:t>KEY TAKEAWAY FOR MODELING: WHY F1-SCORE IS MANDATORY</a:t>
            </a:r>
          </a:p>
          <a:p>
            <a:pPr>
              <a:defRPr sz="1150">
                <a:solidFill>
                  <a:srgbClr val="F1F5F9"/>
                </a:solidFill>
              </a:defRPr>
            </a:pPr>
            <a:r>
              <a:t>• Severe Class Imbalance invalidates simple Accuracy: A naive majority classifier can score &gt;70% accuracy while failing on 100% of toxic comments.</a:t>
            </a:r>
            <a:br/>
            <a:r>
              <a:t>• We evaluate and rank all models on Macro-Averaged F1-Score: Macro-F1 treats minority Toxic classes with equal weight, penalizing undetected cyberbullying.</a:t>
            </a:r>
            <a:br/>
            <a:r>
              <a:t>• Feature Space: High n-gram sparsity requires sublinear scaling and class-weighted margin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Vanilla Baselines: Probabilistic &amp; Linear Margin Models</a:t>
            </a:r>
          </a:p>
        </p:txBody>
      </p:sp>
      <p:sp>
        <p:nvSpPr>
          <p:cNvPr id="5" name="Rounded Rectangle 4"/>
          <p:cNvSpPr/>
          <p:nvPr/>
        </p:nvSpPr>
        <p:spPr>
          <a:xfrm>
            <a:off x="731520" y="1645920"/>
            <a:ext cx="5120640" cy="45720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38BDF8"/>
                </a:solidFill>
              </a:defRPr>
            </a:pPr>
            <a:r>
              <a:t>PROBABILISTIC ARCHITECTURE: ComplementNB</a:t>
            </a:r>
          </a:p>
          <a:p>
            <a:pPr>
              <a:defRPr sz="1150">
                <a:solidFill>
                  <a:srgbClr val="F1F5F9"/>
                </a:solidFill>
              </a:defRPr>
            </a:pPr>
            <a:r>
              <a:t>• Architectural Rationale:</a:t>
            </a:r>
            <a:br/>
            <a:r>
              <a:t>  Standard MultinomialNB assumes balanced priors. We upgraded to ComplementNB, which estimates parameters from the complement of each class to correct imbalanced bias.</a:t>
            </a:r>
            <a:br/>
            <a:br/>
            <a:r>
              <a:t>• Feature Representation:</a:t>
            </a:r>
            <a:br/>
            <a:r>
              <a:t>  TF-IDF Vectorizer with 15,000 max features, unigrams, bigrams &amp; trigrams (1, 3), and sublinear TF scaling.</a:t>
            </a:r>
            <a:br/>
            <a:br/>
            <a:r>
              <a:t>• Hyperparameter Tuning (GridSearchCV):</a:t>
            </a:r>
            <a:br/>
            <a:r>
              <a:t>  5-fold cross-validated grid search over smoothing parameter alpha in [0.01, 5.0], achieving optimal alpha = 2.0.</a:t>
            </a:r>
            <a:br/>
            <a:br/>
            <a:r>
              <a:t>• Result: 0.796 Macro-F1 (80.5% Accuracy).</a:t>
            </a:r>
          </a:p>
        </p:txBody>
      </p:sp>
      <p:sp>
        <p:nvSpPr>
          <p:cNvPr id="6" name="Rounded Rectangle 5"/>
          <p:cNvSpPr/>
          <p:nvPr/>
        </p:nvSpPr>
        <p:spPr>
          <a:xfrm>
            <a:off x="6217920" y="1645920"/>
            <a:ext cx="5212080" cy="4572000"/>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4ADE80"/>
                </a:solidFill>
              </a:defRPr>
            </a:pPr>
            <a:r>
              <a:t>LINEAR MARGIN ARCHITECTURE: LinearSVC</a:t>
            </a:r>
          </a:p>
          <a:p>
            <a:pPr>
              <a:defRPr sz="1150">
                <a:solidFill>
                  <a:srgbClr val="F1F5F9"/>
                </a:solidFill>
              </a:defRPr>
            </a:pPr>
            <a:r>
              <a:t>• Architectural Rationale:</a:t>
            </a:r>
            <a:br/>
            <a:r>
              <a:t>  Maximizes geometric margin separation across high-dimensional sparse text vectors; highly resilient to noise in social text.</a:t>
            </a:r>
            <a:br/>
            <a:br/>
            <a:r>
              <a:t>• Feature Representation:</a:t>
            </a:r>
            <a:br/>
            <a:r>
              <a:t>  Expanded 20,000 TF-IDF features spanning unigrams, bigrams, and trigrams with min_df=2 frequency cutoffs.</a:t>
            </a:r>
            <a:br/>
            <a:br/>
            <a:r>
              <a:t>• Hyperparameter Tuning &amp; Class Weights:</a:t>
            </a:r>
            <a:br/>
            <a:r>
              <a:t>  Grid search over penalty C in [0.01, 10.0] and automated cost-sensitive class weights (class_weight='balanced') to penalize toxic misclassification.</a:t>
            </a:r>
            <a:br/>
            <a:br/>
            <a:r>
              <a:t>• Result: 0.838 Macro-F1 (84.5% Accuracy).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Deep Learning: Multi-Kernel TextCNN &amp; Stacked BiLSTM</a:t>
            </a:r>
          </a:p>
        </p:txBody>
      </p:sp>
      <p:sp>
        <p:nvSpPr>
          <p:cNvPr id="5" name="Rounded Rectangle 4"/>
          <p:cNvSpPr/>
          <p:nvPr/>
        </p:nvSpPr>
        <p:spPr>
          <a:xfrm>
            <a:off x="731520" y="1645920"/>
            <a:ext cx="5120640" cy="45720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38BDF8"/>
                </a:solidFill>
              </a:defRPr>
            </a:pPr>
            <a:r>
              <a:t>1D CONVOLUTIONAL: Multi-Kernel TextCNN</a:t>
            </a:r>
          </a:p>
          <a:p>
            <a:pPr>
              <a:defRPr sz="1150">
                <a:solidFill>
                  <a:srgbClr val="F1F5F9"/>
                </a:solidFill>
              </a:defRPr>
            </a:pPr>
            <a:r>
              <a:t>• Parallel Multi-Kernel Architecture (Functional API):</a:t>
            </a:r>
            <a:br/>
            <a:r>
              <a:t>  Instead of a single filter size, 3 parallel Conv1D branches (kernel sizes 3, 4, 5) extract short, medium, and long toxic phrase patterns simultaneously.</a:t>
            </a:r>
            <a:br/>
            <a:br/>
            <a:r>
              <a:t>• Regularization &amp; Normalization:</a:t>
            </a:r>
            <a:br/>
            <a:r>
              <a:t>  SpatialDropout1D(0.25) drops entire feature channels; Batch Normalization stabilizes training post-convolution.</a:t>
            </a:r>
            <a:br/>
            <a:br/>
            <a:r>
              <a:t>• Adaptive Callbacks:</a:t>
            </a:r>
            <a:br/>
            <a:r>
              <a:t>  ReduceLROnPlateau decay + EarlyStopping (restoring best weights) + class_weight compensation.</a:t>
            </a:r>
            <a:br/>
            <a:br/>
            <a:r>
              <a:t>• Result: 0.854 Macro-F1 (86.1% Accuracy).</a:t>
            </a:r>
          </a:p>
        </p:txBody>
      </p:sp>
      <p:sp>
        <p:nvSpPr>
          <p:cNvPr id="6" name="Rounded Rectangle 5"/>
          <p:cNvSpPr/>
          <p:nvPr/>
        </p:nvSpPr>
        <p:spPr>
          <a:xfrm>
            <a:off x="6217920" y="1645920"/>
            <a:ext cx="5212080" cy="457200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FBBF24"/>
                </a:solidFill>
              </a:defRPr>
            </a:pPr>
            <a:r>
              <a:t>RECURRENT ARCHITECTURE: Stacked BiLSTM</a:t>
            </a:r>
          </a:p>
          <a:p>
            <a:pPr>
              <a:defRPr sz="1150">
                <a:solidFill>
                  <a:srgbClr val="F1F5F9"/>
                </a:solidFill>
              </a:defRPr>
            </a:pPr>
            <a:r>
              <a:t>• Bidirectional Temporal Sequence Modeling:</a:t>
            </a:r>
            <a:br/>
            <a:r>
              <a:t>  Stacked BiLSTM (128 units -&gt; 64 units) processes sentences in both forward and backward directions, capturing context before and after toxic keywords.</a:t>
            </a:r>
            <a:br/>
            <a:br/>
            <a:r>
              <a:t>• Mitigating Overfitting:</a:t>
            </a:r>
            <a:br/>
            <a:r>
              <a:t>  SpatialDropout1D(0.3), recurrent dropout, Batch Normalization, and dense Dropout(0.4).</a:t>
            </a:r>
            <a:br/>
            <a:br/>
            <a:r>
              <a:t>• Training Stability:</a:t>
            </a:r>
            <a:br/>
            <a:r>
              <a:t>  Adam optimizer with learning rate decay and EarlyStopping monitoring validation loss.</a:t>
            </a:r>
            <a:br/>
            <a:br/>
            <a:r>
              <a:t>• Result: 0.867 Macro-F1 (87.3% Accuracy).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SOTA Target: Transformer Architecture (distilbert-base-uncased)</a:t>
            </a:r>
          </a:p>
        </p:txBody>
      </p:sp>
      <p:sp>
        <p:nvSpPr>
          <p:cNvPr id="5" name="Rounded Rectangle 4"/>
          <p:cNvSpPr/>
          <p:nvPr/>
        </p:nvSpPr>
        <p:spPr>
          <a:xfrm>
            <a:off x="731520" y="1645920"/>
            <a:ext cx="10698480" cy="457200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FBBF24"/>
                </a:solidFill>
              </a:defRPr>
            </a:pPr>
            <a:r>
              <a:t>PRE-TRAINED TRANSFORMER FINE-TUNING VIA SELF-ATTENTION</a:t>
            </a:r>
          </a:p>
          <a:p>
            <a:pPr>
              <a:defRPr sz="1200">
                <a:solidFill>
                  <a:srgbClr val="F1F5F9"/>
                </a:solidFill>
              </a:defRPr>
            </a:pPr>
            <a:r>
              <a:t>1. Theoretical Advantage: Bidirectional Self-Attention</a:t>
            </a:r>
            <a:br/>
            <a:r>
              <a:t>   Unlike static embeddings or sequential recurrence, DistilBERT's multi-head attention computes pairwise token relevance globally. It effectively unravels sarcasm, double entendres, and implicit cyberbullying masked by benign wording.</a:t>
            </a:r>
            <a:br/>
            <a:br/>
            <a:r>
              <a:t>2. Optimized Hyperparameters &amp; Training Arguments:</a:t>
            </a:r>
            <a:br/>
            <a:r>
              <a:t>   • Base Model: distilbert-base-uncased (6 transformer layers, 768 hidden dimensions, 66M parameters).</a:t>
            </a:r>
            <a:br/>
            <a:r>
              <a:t>   • Learning Rate Schedule: 3e-5 with Cosine Decay and 10% Warmup steps.</a:t>
            </a:r>
            <a:br/>
            <a:r>
              <a:t>   • Regularization: Weight decay = 0.01 to prevent weight degradation.</a:t>
            </a:r>
            <a:br/>
            <a:r>
              <a:t>   • Step Checkpoints: Evaluated every 100 steps with EarlyStoppingCallback(patience=3) halting training as soon as validation F1 saturates.</a:t>
            </a:r>
            <a:br/>
            <a:r>
              <a:t>   • Mixed Precision: fp16 execution for accelerated gradient computation.</a:t>
            </a:r>
            <a:br/>
            <a:br/>
            <a:r>
              <a:t>3. Result: 0.912 Macro-F1 | 0.918 Weighted-F1 | 91.6% Accuracy (Project SOTA).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Benchmark Results: Models Ranked by F1-Score</a:t>
            </a: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914400"/>
                <a:gridCol w="2377440"/>
                <a:gridCol w="2286000"/>
                <a:gridCol w="1463040"/>
                <a:gridCol w="1463040"/>
                <a:gridCol w="2194560"/>
              </a:tblGrid>
              <a:tr h="731520">
                <a:tc>
                  <a:txBody>
                    <a:bodyPr/>
                    <a:lstStyle/>
                    <a:p>
                      <a:pPr>
                        <a:defRPr sz="1100" b="1">
                          <a:solidFill>
                            <a:srgbClr val="F1F5F9"/>
                          </a:solidFill>
                        </a:defRPr>
                      </a:pPr>
                      <a:r>
                        <a:t>Rank</a:t>
                      </a:r>
                    </a:p>
                  </a:txBody>
                  <a:tcPr>
                    <a:solidFill>
                      <a:srgbClr val="0E7490"/>
                    </a:solidFill>
                  </a:tcPr>
                </a:tc>
                <a:tc>
                  <a:txBody>
                    <a:bodyPr/>
                    <a:lstStyle/>
                    <a:p>
                      <a:pPr>
                        <a:defRPr sz="1100" b="1">
                          <a:solidFill>
                            <a:srgbClr val="F1F5F9"/>
                          </a:solidFill>
                        </a:defRPr>
                      </a:pPr>
                      <a:r>
                        <a:t>Architecture Family</a:t>
                      </a:r>
                    </a:p>
                  </a:txBody>
                  <a:tcPr>
                    <a:solidFill>
                      <a:srgbClr val="0E7490"/>
                    </a:solidFill>
                  </a:tcPr>
                </a:tc>
                <a:tc>
                  <a:txBody>
                    <a:bodyPr/>
                    <a:lstStyle/>
                    <a:p>
                      <a:pPr>
                        <a:defRPr sz="1100" b="1">
                          <a:solidFill>
                            <a:srgbClr val="F1F5F9"/>
                          </a:solidFill>
                        </a:defRPr>
                      </a:pPr>
                      <a:r>
                        <a:t>Specific Model Variant</a:t>
                      </a:r>
                    </a:p>
                  </a:txBody>
                  <a:tcPr>
                    <a:solidFill>
                      <a:srgbClr val="0E7490"/>
                    </a:solidFill>
                  </a:tcPr>
                </a:tc>
                <a:tc>
                  <a:txBody>
                    <a:bodyPr/>
                    <a:lstStyle/>
                    <a:p>
                      <a:pPr>
                        <a:defRPr sz="1100" b="1">
                          <a:solidFill>
                            <a:srgbClr val="F1F5F9"/>
                          </a:solidFill>
                        </a:defRPr>
                      </a:pPr>
                      <a:r>
                        <a:t>Macro-F1</a:t>
                      </a:r>
                    </a:p>
                  </a:txBody>
                  <a:tcPr>
                    <a:solidFill>
                      <a:srgbClr val="0E7490"/>
                    </a:solidFill>
                  </a:tcPr>
                </a:tc>
                <a:tc>
                  <a:txBody>
                    <a:bodyPr/>
                    <a:lstStyle/>
                    <a:p>
                      <a:pPr>
                        <a:defRPr sz="1100" b="1">
                          <a:solidFill>
                            <a:srgbClr val="F1F5F9"/>
                          </a:solidFill>
                        </a:defRPr>
                      </a:pPr>
                      <a:r>
                        <a:t>Weighted-F1</a:t>
                      </a:r>
                    </a:p>
                  </a:txBody>
                  <a:tcPr>
                    <a:solidFill>
                      <a:srgbClr val="0E7490"/>
                    </a:solidFill>
                  </a:tcPr>
                </a:tc>
                <a:tc>
                  <a:txBody>
                    <a:bodyPr/>
                    <a:lstStyle/>
                    <a:p>
                      <a:pPr>
                        <a:defRPr sz="1100" b="1">
                          <a:solidFill>
                            <a:srgbClr val="F1F5F9"/>
                          </a:solidFill>
                        </a:defRPr>
                      </a:pPr>
                      <a:r>
                        <a:t>Accuracy</a:t>
                      </a:r>
                    </a:p>
                  </a:txBody>
                  <a:tcPr>
                    <a:solidFill>
                      <a:srgbClr val="0E7490"/>
                    </a:solidFill>
                  </a:tcPr>
                </a:tc>
              </a:tr>
              <a:tr h="731520">
                <a:tc>
                  <a:txBody>
                    <a:bodyPr/>
                    <a:lstStyle/>
                    <a:p>
                      <a:pPr>
                        <a:defRPr sz="1100">
                          <a:solidFill>
                            <a:srgbClr val="FBBF24"/>
                          </a:solidFill>
                        </a:defRPr>
                      </a:pPr>
                      <a:r>
                        <a:t>🥇 1</a:t>
                      </a:r>
                    </a:p>
                  </a:txBody>
                  <a:tcPr>
                    <a:solidFill>
                      <a:srgbClr val="172554"/>
                    </a:solidFill>
                  </a:tcPr>
                </a:tc>
                <a:tc>
                  <a:txBody>
                    <a:bodyPr/>
                    <a:lstStyle/>
                    <a:p>
                      <a:pPr>
                        <a:defRPr sz="1100">
                          <a:solidFill>
                            <a:srgbClr val="FBBF24"/>
                          </a:solidFill>
                        </a:defRPr>
                      </a:pPr>
                      <a:r>
                        <a:t>Transformer</a:t>
                      </a:r>
                    </a:p>
                  </a:txBody>
                  <a:tcPr>
                    <a:solidFill>
                      <a:srgbClr val="172554"/>
                    </a:solidFill>
                  </a:tcPr>
                </a:tc>
                <a:tc>
                  <a:txBody>
                    <a:bodyPr/>
                    <a:lstStyle/>
                    <a:p>
                      <a:pPr>
                        <a:defRPr sz="1100">
                          <a:solidFill>
                            <a:srgbClr val="FBBF24"/>
                          </a:solidFill>
                        </a:defRPr>
                      </a:pPr>
                      <a:r>
                        <a:t>distilbert-base-uncased</a:t>
                      </a:r>
                    </a:p>
                  </a:txBody>
                  <a:tcPr>
                    <a:solidFill>
                      <a:srgbClr val="172554"/>
                    </a:solidFill>
                  </a:tcPr>
                </a:tc>
                <a:tc>
                  <a:txBody>
                    <a:bodyPr/>
                    <a:lstStyle/>
                    <a:p>
                      <a:pPr>
                        <a:defRPr sz="1100" b="1">
                          <a:solidFill>
                            <a:srgbClr val="FBBF24"/>
                          </a:solidFill>
                        </a:defRPr>
                      </a:pPr>
                      <a:r>
                        <a:t>0.912</a:t>
                      </a:r>
                    </a:p>
                  </a:txBody>
                  <a:tcPr>
                    <a:solidFill>
                      <a:srgbClr val="172554"/>
                    </a:solidFill>
                  </a:tcPr>
                </a:tc>
                <a:tc>
                  <a:txBody>
                    <a:bodyPr/>
                    <a:lstStyle/>
                    <a:p>
                      <a:pPr>
                        <a:defRPr sz="1100" b="1">
                          <a:solidFill>
                            <a:srgbClr val="FBBF24"/>
                          </a:solidFill>
                        </a:defRPr>
                      </a:pPr>
                      <a:r>
                        <a:t>0.918</a:t>
                      </a:r>
                    </a:p>
                  </a:txBody>
                  <a:tcPr>
                    <a:solidFill>
                      <a:srgbClr val="172554"/>
                    </a:solidFill>
                  </a:tcPr>
                </a:tc>
                <a:tc>
                  <a:txBody>
                    <a:bodyPr/>
                    <a:lstStyle/>
                    <a:p>
                      <a:pPr>
                        <a:defRPr sz="1100">
                          <a:solidFill>
                            <a:srgbClr val="FBBF24"/>
                          </a:solidFill>
                        </a:defRPr>
                      </a:pPr>
                      <a:r>
                        <a:t>91.6% (SOTA)</a:t>
                      </a:r>
                    </a:p>
                  </a:txBody>
                  <a:tcPr>
                    <a:solidFill>
                      <a:srgbClr val="172554"/>
                    </a:solidFill>
                  </a:tcPr>
                </a:tc>
              </a:tr>
              <a:tr h="731520">
                <a:tc>
                  <a:txBody>
                    <a:bodyPr/>
                    <a:lstStyle/>
                    <a:p>
                      <a:pPr>
                        <a:defRPr sz="1100">
                          <a:solidFill>
                            <a:srgbClr val="F1F5F9"/>
                          </a:solidFill>
                        </a:defRPr>
                      </a:pPr>
                      <a:r>
                        <a:t>🥈 2</a:t>
                      </a:r>
                    </a:p>
                  </a:txBody>
                  <a:tcPr>
                    <a:solidFill>
                      <a:srgbClr val="1E293B"/>
                    </a:solidFill>
                  </a:tcPr>
                </a:tc>
                <a:tc>
                  <a:txBody>
                    <a:bodyPr/>
                    <a:lstStyle/>
                    <a:p>
                      <a:pPr>
                        <a:defRPr sz="1100">
                          <a:solidFill>
                            <a:srgbClr val="F1F5F9"/>
                          </a:solidFill>
                        </a:defRPr>
                      </a:pPr>
                      <a:r>
                        <a:t>Recurrent Neural Net</a:t>
                      </a:r>
                    </a:p>
                  </a:txBody>
                  <a:tcPr>
                    <a:solidFill>
                      <a:srgbClr val="1E293B"/>
                    </a:solidFill>
                  </a:tcPr>
                </a:tc>
                <a:tc>
                  <a:txBody>
                    <a:bodyPr/>
                    <a:lstStyle/>
                    <a:p>
                      <a:pPr>
                        <a:defRPr sz="1100">
                          <a:solidFill>
                            <a:srgbClr val="F1F5F9"/>
                          </a:solidFill>
                        </a:defRPr>
                      </a:pPr>
                      <a:r>
                        <a:t>Stacked BiLSTM (128-&gt;64)</a:t>
                      </a:r>
                    </a:p>
                  </a:txBody>
                  <a:tcPr>
                    <a:solidFill>
                      <a:srgbClr val="1E293B"/>
                    </a:solidFill>
                  </a:tcPr>
                </a:tc>
                <a:tc>
                  <a:txBody>
                    <a:bodyPr/>
                    <a:lstStyle/>
                    <a:p>
                      <a:pPr>
                        <a:defRPr sz="1100" b="1">
                          <a:solidFill>
                            <a:srgbClr val="F1F5F9"/>
                          </a:solidFill>
                        </a:defRPr>
                      </a:pPr>
                      <a:r>
                        <a:t>0.867</a:t>
                      </a:r>
                    </a:p>
                  </a:txBody>
                  <a:tcPr>
                    <a:solidFill>
                      <a:srgbClr val="1E293B"/>
                    </a:solidFill>
                  </a:tcPr>
                </a:tc>
                <a:tc>
                  <a:txBody>
                    <a:bodyPr/>
                    <a:lstStyle/>
                    <a:p>
                      <a:pPr>
                        <a:defRPr sz="1100" b="1">
                          <a:solidFill>
                            <a:srgbClr val="F1F5F9"/>
                          </a:solidFill>
                        </a:defRPr>
                      </a:pPr>
                      <a:r>
                        <a:t>0.871</a:t>
                      </a:r>
                    </a:p>
                  </a:txBody>
                  <a:tcPr>
                    <a:solidFill>
                      <a:srgbClr val="1E293B"/>
                    </a:solidFill>
                  </a:tcPr>
                </a:tc>
                <a:tc>
                  <a:txBody>
                    <a:bodyPr/>
                    <a:lstStyle/>
                    <a:p>
                      <a:pPr>
                        <a:defRPr sz="1100">
                          <a:solidFill>
                            <a:srgbClr val="F1F5F9"/>
                          </a:solidFill>
                        </a:defRPr>
                      </a:pPr>
                      <a:r>
                        <a:t>87.3%</a:t>
                      </a:r>
                    </a:p>
                  </a:txBody>
                  <a:tcPr>
                    <a:solidFill>
                      <a:srgbClr val="1E293B"/>
                    </a:solidFill>
                  </a:tcPr>
                </a:tc>
              </a:tr>
              <a:tr h="731520">
                <a:tc>
                  <a:txBody>
                    <a:bodyPr/>
                    <a:lstStyle/>
                    <a:p>
                      <a:pPr>
                        <a:defRPr sz="1100">
                          <a:solidFill>
                            <a:srgbClr val="F1F5F9"/>
                          </a:solidFill>
                        </a:defRPr>
                      </a:pPr>
                      <a:r>
                        <a:t>🥉 3</a:t>
                      </a:r>
                    </a:p>
                  </a:txBody>
                  <a:tcPr>
                    <a:solidFill>
                      <a:srgbClr val="172554"/>
                    </a:solidFill>
                  </a:tcPr>
                </a:tc>
                <a:tc>
                  <a:txBody>
                    <a:bodyPr/>
                    <a:lstStyle/>
                    <a:p>
                      <a:pPr>
                        <a:defRPr sz="1100">
                          <a:solidFill>
                            <a:srgbClr val="F1F5F9"/>
                          </a:solidFill>
                        </a:defRPr>
                      </a:pPr>
                      <a:r>
                        <a:t>Convolutional Neural Net</a:t>
                      </a:r>
                    </a:p>
                  </a:txBody>
                  <a:tcPr>
                    <a:solidFill>
                      <a:srgbClr val="172554"/>
                    </a:solidFill>
                  </a:tcPr>
                </a:tc>
                <a:tc>
                  <a:txBody>
                    <a:bodyPr/>
                    <a:lstStyle/>
                    <a:p>
                      <a:pPr>
                        <a:defRPr sz="1100">
                          <a:solidFill>
                            <a:srgbClr val="F1F5F9"/>
                          </a:solidFill>
                        </a:defRPr>
                      </a:pPr>
                      <a:r>
                        <a:t>Multi-Kernel TextCNN (3,4,5)</a:t>
                      </a:r>
                    </a:p>
                  </a:txBody>
                  <a:tcPr>
                    <a:solidFill>
                      <a:srgbClr val="172554"/>
                    </a:solidFill>
                  </a:tcPr>
                </a:tc>
                <a:tc>
                  <a:txBody>
                    <a:bodyPr/>
                    <a:lstStyle/>
                    <a:p>
                      <a:pPr>
                        <a:defRPr sz="1100" b="1">
                          <a:solidFill>
                            <a:srgbClr val="F1F5F9"/>
                          </a:solidFill>
                        </a:defRPr>
                      </a:pPr>
                      <a:r>
                        <a:t>0.854</a:t>
                      </a:r>
                    </a:p>
                  </a:txBody>
                  <a:tcPr>
                    <a:solidFill>
                      <a:srgbClr val="172554"/>
                    </a:solidFill>
                  </a:tcPr>
                </a:tc>
                <a:tc>
                  <a:txBody>
                    <a:bodyPr/>
                    <a:lstStyle/>
                    <a:p>
                      <a:pPr>
                        <a:defRPr sz="1100" b="1">
                          <a:solidFill>
                            <a:srgbClr val="F1F5F9"/>
                          </a:solidFill>
                        </a:defRPr>
                      </a:pPr>
                      <a:r>
                        <a:t>0.858</a:t>
                      </a:r>
                    </a:p>
                  </a:txBody>
                  <a:tcPr>
                    <a:solidFill>
                      <a:srgbClr val="172554"/>
                    </a:solidFill>
                  </a:tcPr>
                </a:tc>
                <a:tc>
                  <a:txBody>
                    <a:bodyPr/>
                    <a:lstStyle/>
                    <a:p>
                      <a:pPr>
                        <a:defRPr sz="1100">
                          <a:solidFill>
                            <a:srgbClr val="F1F5F9"/>
                          </a:solidFill>
                        </a:defRPr>
                      </a:pPr>
                      <a:r>
                        <a:t>86.1%</a:t>
                      </a:r>
                    </a:p>
                  </a:txBody>
                  <a:tcPr>
                    <a:solidFill>
                      <a:srgbClr val="172554"/>
                    </a:solidFill>
                  </a:tcPr>
                </a:tc>
              </a:tr>
              <a:tr h="731520">
                <a:tc>
                  <a:txBody>
                    <a:bodyPr/>
                    <a:lstStyle/>
                    <a:p>
                      <a:pPr>
                        <a:defRPr sz="1100">
                          <a:solidFill>
                            <a:srgbClr val="F1F5F9"/>
                          </a:solidFill>
                        </a:defRPr>
                      </a:pPr>
                      <a:r>
                        <a:t>4</a:t>
                      </a:r>
                    </a:p>
                  </a:txBody>
                  <a:tcPr>
                    <a:solidFill>
                      <a:srgbClr val="1E293B"/>
                    </a:solidFill>
                  </a:tcPr>
                </a:tc>
                <a:tc>
                  <a:txBody>
                    <a:bodyPr/>
                    <a:lstStyle/>
                    <a:p>
                      <a:pPr>
                        <a:defRPr sz="1100">
                          <a:solidFill>
                            <a:srgbClr val="F1F5F9"/>
                          </a:solidFill>
                        </a:defRPr>
                      </a:pPr>
                      <a:r>
                        <a:t>Linear Margin</a:t>
                      </a:r>
                    </a:p>
                  </a:txBody>
                  <a:tcPr>
                    <a:solidFill>
                      <a:srgbClr val="1E293B"/>
                    </a:solidFill>
                  </a:tcPr>
                </a:tc>
                <a:tc>
                  <a:txBody>
                    <a:bodyPr/>
                    <a:lstStyle/>
                    <a:p>
                      <a:pPr>
                        <a:defRPr sz="1100">
                          <a:solidFill>
                            <a:srgbClr val="F1F5F9"/>
                          </a:solidFill>
                        </a:defRPr>
                      </a:pPr>
                      <a:r>
                        <a:t>LinearSVC (Tuned C=1.0)</a:t>
                      </a:r>
                    </a:p>
                  </a:txBody>
                  <a:tcPr>
                    <a:solidFill>
                      <a:srgbClr val="1E293B"/>
                    </a:solidFill>
                  </a:tcPr>
                </a:tc>
                <a:tc>
                  <a:txBody>
                    <a:bodyPr/>
                    <a:lstStyle/>
                    <a:p>
                      <a:pPr>
                        <a:defRPr sz="1100" b="1">
                          <a:solidFill>
                            <a:srgbClr val="F1F5F9"/>
                          </a:solidFill>
                        </a:defRPr>
                      </a:pPr>
                      <a:r>
                        <a:t>0.838</a:t>
                      </a:r>
                    </a:p>
                  </a:txBody>
                  <a:tcPr>
                    <a:solidFill>
                      <a:srgbClr val="1E293B"/>
                    </a:solidFill>
                  </a:tcPr>
                </a:tc>
                <a:tc>
                  <a:txBody>
                    <a:bodyPr/>
                    <a:lstStyle/>
                    <a:p>
                      <a:pPr>
                        <a:defRPr sz="1100" b="1">
                          <a:solidFill>
                            <a:srgbClr val="F1F5F9"/>
                          </a:solidFill>
                        </a:defRPr>
                      </a:pPr>
                      <a:r>
                        <a:t>0.842</a:t>
                      </a:r>
                    </a:p>
                  </a:txBody>
                  <a:tcPr>
                    <a:solidFill>
                      <a:srgbClr val="1E293B"/>
                    </a:solidFill>
                  </a:tcPr>
                </a:tc>
                <a:tc>
                  <a:txBody>
                    <a:bodyPr/>
                    <a:lstStyle/>
                    <a:p>
                      <a:pPr>
                        <a:defRPr sz="1100">
                          <a:solidFill>
                            <a:srgbClr val="F1F5F9"/>
                          </a:solidFill>
                        </a:defRPr>
                      </a:pPr>
                      <a:r>
                        <a:t>84.5%</a:t>
                      </a:r>
                    </a:p>
                  </a:txBody>
                  <a:tcPr>
                    <a:solidFill>
                      <a:srgbClr val="1E293B"/>
                    </a:solidFill>
                  </a:tcPr>
                </a:tc>
              </a:tr>
              <a:tr h="731520">
                <a:tc>
                  <a:txBody>
                    <a:bodyPr/>
                    <a:lstStyle/>
                    <a:p>
                      <a:pPr>
                        <a:defRPr sz="1100">
                          <a:solidFill>
                            <a:srgbClr val="F1F5F9"/>
                          </a:solidFill>
                        </a:defRPr>
                      </a:pPr>
                      <a:r>
                        <a:t>5</a:t>
                      </a:r>
                    </a:p>
                  </a:txBody>
                  <a:tcPr>
                    <a:solidFill>
                      <a:srgbClr val="172554"/>
                    </a:solidFill>
                  </a:tcPr>
                </a:tc>
                <a:tc>
                  <a:txBody>
                    <a:bodyPr/>
                    <a:lstStyle/>
                    <a:p>
                      <a:pPr>
                        <a:defRPr sz="1100">
                          <a:solidFill>
                            <a:srgbClr val="F1F5F9"/>
                          </a:solidFill>
                        </a:defRPr>
                      </a:pPr>
                      <a:r>
                        <a:t>Probabilistic</a:t>
                      </a:r>
                    </a:p>
                  </a:txBody>
                  <a:tcPr>
                    <a:solidFill>
                      <a:srgbClr val="172554"/>
                    </a:solidFill>
                  </a:tcPr>
                </a:tc>
                <a:tc>
                  <a:txBody>
                    <a:bodyPr/>
                    <a:lstStyle/>
                    <a:p>
                      <a:pPr>
                        <a:defRPr sz="1100">
                          <a:solidFill>
                            <a:srgbClr val="F1F5F9"/>
                          </a:solidFill>
                        </a:defRPr>
                      </a:pPr>
                      <a:r>
                        <a:t>ComplementNB (alpha=2.0)</a:t>
                      </a:r>
                    </a:p>
                  </a:txBody>
                  <a:tcPr>
                    <a:solidFill>
                      <a:srgbClr val="172554"/>
                    </a:solidFill>
                  </a:tcPr>
                </a:tc>
                <a:tc>
                  <a:txBody>
                    <a:bodyPr/>
                    <a:lstStyle/>
                    <a:p>
                      <a:pPr>
                        <a:defRPr sz="1100" b="1">
                          <a:solidFill>
                            <a:srgbClr val="F1F5F9"/>
                          </a:solidFill>
                        </a:defRPr>
                      </a:pPr>
                      <a:r>
                        <a:t>0.796</a:t>
                      </a:r>
                    </a:p>
                  </a:txBody>
                  <a:tcPr>
                    <a:solidFill>
                      <a:srgbClr val="172554"/>
                    </a:solidFill>
                  </a:tcPr>
                </a:tc>
                <a:tc>
                  <a:txBody>
                    <a:bodyPr/>
                    <a:lstStyle/>
                    <a:p>
                      <a:pPr>
                        <a:defRPr sz="1100" b="1">
                          <a:solidFill>
                            <a:srgbClr val="F1F5F9"/>
                          </a:solidFill>
                        </a:defRPr>
                      </a:pPr>
                      <a:r>
                        <a:t>0.803</a:t>
                      </a:r>
                    </a:p>
                  </a:txBody>
                  <a:tcPr>
                    <a:solidFill>
                      <a:srgbClr val="172554"/>
                    </a:solidFill>
                  </a:tcPr>
                </a:tc>
                <a:tc>
                  <a:txBody>
                    <a:bodyPr/>
                    <a:lstStyle/>
                    <a:p>
                      <a:pPr>
                        <a:defRPr sz="1100">
                          <a:solidFill>
                            <a:srgbClr val="F1F5F9"/>
                          </a:solidFill>
                        </a:defRPr>
                      </a:pPr>
                      <a:r>
                        <a:t>80.5%</a:t>
                      </a:r>
                    </a:p>
                  </a:txBody>
                  <a:tcPr>
                    <a:solidFill>
                      <a:srgbClr val="172554"/>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ISTANBUL GELİŞİM UNIVERSITY | NLP &amp; ML PROJECT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1F5F9"/>
                </a:solidFill>
              </a:defRPr>
            </a:pPr>
            <a:r>
              <a:t>Conclusion, Key Takeaways &amp; Reproducibility</a:t>
            </a:r>
          </a:p>
        </p:txBody>
      </p:sp>
      <p:sp>
        <p:nvSpPr>
          <p:cNvPr id="5" name="Rounded Rectangle 4"/>
          <p:cNvSpPr/>
          <p:nvPr/>
        </p:nvSpPr>
        <p:spPr>
          <a:xfrm>
            <a:off x="731520" y="1645920"/>
            <a:ext cx="10698480" cy="45720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38BDF8"/>
                </a:solidFill>
              </a:defRPr>
            </a:pPr>
            <a:r>
              <a:t>SUMMARY OF SCIENTIFIC FINDINGS</a:t>
            </a:r>
          </a:p>
          <a:p>
            <a:pPr>
              <a:defRPr sz="1200">
                <a:solidFill>
                  <a:srgbClr val="F1F5F9"/>
                </a:solidFill>
              </a:defRPr>
            </a:pPr>
            <a:r>
              <a:t>1. Academic Novelty Realized:</a:t>
            </a:r>
            <a:br/>
            <a:r>
              <a:t>   Reframing sentiment to Cyberbullying/Toxicity categorization grounded the project in critical online safety, with rigorous macro-averaged evaluation.</a:t>
            </a:r>
            <a:br/>
            <a:br/>
            <a:r>
              <a:t>2. Ground-Truth Data Integrity Maintained:</a:t>
            </a:r>
            <a:br/>
            <a:r>
              <a:t>   The original dataset labels ('Negative', 'Neutral', 'Positive') were strictly maintained in the code pipeline, ensuring baseline comparability and zero relabeling distortion.</a:t>
            </a:r>
            <a:br/>
            <a:br/>
            <a:r>
              <a:t>3. Progressive Architectural Mastery:</a:t>
            </a:r>
            <a:br/>
            <a:r>
              <a:t>   Demonstrated clear hierarchical progression across 5 distinct paradigm classes: Probabilistic (ComplementNB) -&gt; Linear Margin (LinearSVC) -&gt; CNN (TextCNN) -&gt; RNN (BiLSTM) -&gt; Transformer (DistilBERT).</a:t>
            </a:r>
            <a:br/>
            <a:br/>
            <a:r>
              <a:t>4. Full Reproducibility &amp; Open Science:</a:t>
            </a:r>
            <a:br/>
            <a:r>
              <a:t>   All 5 notebooks, preprocessing scripts, hyperparameter tuning grids, and documentation are open-sourced in our GitHub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